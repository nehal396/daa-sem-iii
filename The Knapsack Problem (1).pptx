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511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explain the knapsack problem from scratch: what it is, why the obvious solutions fail, and how dynamic programming solves it. We will follow one small example all the way through, with a flowchart, a table and the final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we will take. We start with the problem, try the obvious brute force idea, then a greedy idea, and see why each one falls short. Dynamic programming is the main part of the talk. We finish with complexity and real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hiker with a bag that holds 7 kilograms. There are four items, each with a weight and a usefulness score. Everything together weighs 13 kilograms, so we cannot take it all. This exact example will follow us through the whole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idea in symbols. We have n items, each with a weight and a value, and a bag with capacity W. For every item we choose x equal to 1 if we take it and 0 if we leave it. We want the largest total value, while the total weight stays within 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common versions. In fractional knapsack you may cut items, and greedy works perfectly. In unbounded knapsack you may repeat items. Today we focus on 0/1 knapsack, where each item is taken whole or not at all, because that is the version that needs dynamic programming.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Brute force simply tries everything. For each item we branch into two choices: skip it or take it. With items A, B and C that gives eight leaves, each a complete packing. One leaf is over the 7 kg limit, and the best of the rest is Tent plus Stove, worth 9 points. We only drew three of the four items, since the full tree has 16 leaves.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grows by a factor of two with every item, so n items mean 2 to the power n subsets. Even if a computer checks a billion subsets per second, 40 items take about 18 minutes and 60 items take decades. Brute force is correct but unusable for anything beyond small inputs, so we need something smarter.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natural idea is to rank items by value per kilogram and keep taking the best one that fits. Here that picks the camera first, then only the torch fits, for 8 points. The best answer is tent plus stove with 9 points. Greedy locks in an early choice that it can never undo, which is why we need a method that looks at all the combinations without listing them. If items could be split, greedy would reach 9.67 points and would be optimal.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programming works when two things are true. First, optimal substructure: the best packing for the whole problem uses best packings of smaller problems. Second, overlapping subproblems: the tree from before asks the same sub-question many times. So we define a state, dp[i][c], the best value using the first i items with capacity c. We compute every state once, in a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has just two options. Either we skip item i, and the value is whatever the previous row gave us with the same capacity. Or we take item i, which costs w[i] of the capacity but adds v[i] to the value, so we look up the previous row at capacity c minus w[i]. We keep the larger one. We can only take the item if it fits. With zero items, the value is zero.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the whole algorithm. We create the table and set the first row to zero. Two loops visit every item i and every capacity c. At each cell we ask one question: does item i fit, that is, is its weight at most c? If yes, we compute both options, skip and take, and keep the larger. If no, we copy the cell above. When all cells are done, the answer sits in the bottom-right cell, dp of n and 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after the algorithm has run on our example. Rows are the items we are allowed to use, columns are the bag capacity from 0 to 7. Read any cell as: the best value you can get with these items and this capacity. Notice values only grow to the right and downward. The highlighted bottom-right cell holds the final answer, 9 points.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compute two cells by hand. For dp of 3 and 7 we consider the stove, 4 kg and 5 points. Skipping gives the value from the row above, 5. Taking it leaves 3 kg of capacity, and the row above at capacity 3 is 4, so the total is 5 plus 4, which is 9. We keep 9. For dp of 4 and 7 the camera would give only 8, so skipping it, with 9, wins.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gives the best value, but which items make it? We walk backwards from the bottom-right cell. If a cell equals the one directly above it, that item was skipped. If it differs, the item was taken, and we move up and left by the item’s weight. Here we skip the camera, take the stove, take the tent, and the capacity reaches zero. So the answer is tent plus stove: 7 kg, 9 points.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flowchart as code. The table dp has n plus 1 rows and W plus 1 columns. Two loops visit every cell. First we copy the value from the row above, which is the skip option. Then, if the item fits, we compare with the take option and keep the maximum. Running it on our example returns 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approaches compare. Brute force is exponential. Greedy is very fast but not always right for 0/1 items. Dynamic programming takes n times W steps, which is far smaller than 2 to the n for realistic sizes. It is called pseudo-polynomial because W is a number, so the running time depends on its value. Since each row only needs the previous row, we can cut the memory to a single array of size W plus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Knapsack appears whenever you have a limited resource and many options. The resource can be money, weight, memory or time. The same recurrence solves all of them, only the meaning of weight, value and capacity changes.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knapsack is about choosing items under a capacity limit. Brute force is correct but exponential. Greedy is fast but not always right for 0/1 items. Dynamic programming stores the answers to smaller subproblems and solves the problem in n times W steps.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185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42442"/>
            <a:ext cx="10566400" cy="4302758"/>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185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42442"/>
            <a:ext cx="10566400" cy="4302758"/>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493000" y="889000"/>
            <a:ext cx="3937000" cy="3937000"/>
          </a:xfrm>
          <a:prstGeom prst="rect">
            <a:avLst/>
          </a:prstGeom>
        </p:spPr>
      </p:pic>
      <p:pic>
        <p:nvPicPr>
          <p:cNvPr id="3" name="Image 1" descr="ellipse"/>
          <p:cNvPicPr>
            <a:picLocks noChangeAspect="1"/>
          </p:cNvPicPr>
          <p:nvPr/>
        </p:nvPicPr>
        <p:blipFill>
          <a:blip r:embed="rId4"/>
          <a:srcRect/>
          <a:stretch/>
        </p:blipFill>
        <p:spPr>
          <a:xfrm>
            <a:off x="8890000" y="3556000"/>
            <a:ext cx="2413000" cy="2413000"/>
          </a:xfrm>
          <a:prstGeom prst="rect">
            <a:avLst/>
          </a:prstGeom>
        </p:spPr>
      </p:pic>
      <p:sp>
        <p:nvSpPr>
          <p:cNvPr id="4" name="Text 0"/>
          <p:cNvSpPr/>
          <p:nvPr/>
        </p:nvSpPr>
        <p:spPr>
          <a:xfrm>
            <a:off x="812800" y="19380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4FD1C5"/>
                </a:solidFill>
                <a:latin typeface="DM Sans" pitchFamily="34" charset="0"/>
                <a:ea typeface="DM Sans" pitchFamily="34" charset="-122"/>
                <a:cs typeface="DM Sans" pitchFamily="34" charset="-120"/>
              </a:rPr>
              <a:t>ALGORITHMS · DYNAMIC PROGRAMMING</a:t>
            </a:r>
            <a:endParaRPr lang="en-US" sz="1400" dirty="0"/>
          </a:p>
        </p:txBody>
      </p:sp>
      <p:sp>
        <p:nvSpPr>
          <p:cNvPr id="5" name="Text 1"/>
          <p:cNvSpPr>
            <a:spLocks noGrp="1"/>
          </p:cNvSpPr>
          <p:nvPr>
            <p:ph type="title"/>
          </p:nvPr>
        </p:nvSpPr>
        <p:spPr>
          <a:xfrm>
            <a:off x="812800" y="2390140"/>
            <a:ext cx="65405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3EC"/>
                </a:solidFill>
                <a:latin typeface="Rubik" pitchFamily="34" charset="0"/>
                <a:ea typeface="Rubik" pitchFamily="34" charset="-122"/>
                <a:cs typeface="Rubik" pitchFamily="34" charset="-120"/>
              </a:rPr>
              <a:t>The Knapsack Problem</a:t>
            </a:r>
            <a:endParaRPr lang="en-US" sz="6000" dirty="0"/>
          </a:p>
        </p:txBody>
      </p:sp>
      <p:sp>
        <p:nvSpPr>
          <p:cNvPr id="6" name="Text 2"/>
          <p:cNvSpPr/>
          <p:nvPr/>
        </p:nvSpPr>
        <p:spPr>
          <a:xfrm>
            <a:off x="812800" y="4193540"/>
            <a:ext cx="654050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8C4D6"/>
                </a:solidFill>
                <a:latin typeface="DM Sans" pitchFamily="34" charset="0"/>
                <a:ea typeface="DM Sans" pitchFamily="34" charset="-122"/>
                <a:cs typeface="DM Sans" pitchFamily="34" charset="-120"/>
              </a:rPr>
              <a:t>From brute force to dynamic programming, step by step</a:t>
            </a:r>
            <a:endParaRPr lang="en-US" sz="2200" dirty="0"/>
          </a:p>
        </p:txBody>
      </p:sp>
      <p:sp>
        <p:nvSpPr>
          <p:cNvPr id="7" name="Text 3"/>
          <p:cNvSpPr/>
          <p:nvPr/>
        </p:nvSpPr>
        <p:spPr>
          <a:xfrm>
            <a:off x="812800" y="5999480"/>
            <a:ext cx="65405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DM Sans" pitchFamily="34" charset="0"/>
                <a:ea typeface="DM Sans" pitchFamily="34" charset="-122"/>
                <a:cs typeface="DM Sans" pitchFamily="34" charset="-120"/>
              </a:rPr>
              <a:t>Nehal Saad · 25070521071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ROADMAP</a:t>
            </a:r>
            <a:endParaRPr lang="en-US" sz="1300" dirty="0"/>
          </a:p>
        </p:txBody>
      </p:sp>
      <p:sp>
        <p:nvSpPr>
          <p:cNvPr id="3" name="Text 1"/>
          <p:cNvSpPr>
            <a:spLocks noGrp="1"/>
          </p:cNvSpPr>
          <p:nvPr>
            <p:ph type="title"/>
          </p:nvPr>
        </p:nvSpPr>
        <p:spPr>
          <a:xfrm>
            <a:off x="812800" y="101854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How this talk flows</a:t>
            </a:r>
            <a:endParaRPr lang="en-US" sz="3000" dirty="0"/>
          </a:p>
        </p:txBody>
      </p:sp>
      <p:sp>
        <p:nvSpPr>
          <p:cNvPr id="4" name="Shape 2"/>
          <p:cNvSpPr/>
          <p:nvPr/>
        </p:nvSpPr>
        <p:spPr>
          <a:xfrm>
            <a:off x="819150" y="1697990"/>
            <a:ext cx="1645920" cy="2019300"/>
          </a:xfrm>
          <a:prstGeom prst="roundRect">
            <a:avLst>
              <a:gd name="adj" fmla="val 7330"/>
            </a:avLst>
          </a:prstGeom>
          <a:solidFill>
            <a:srgbClr val="FFFDF8"/>
          </a:solidFill>
          <a:ln w="12700">
            <a:solidFill>
              <a:srgbClr val="DDD6C8"/>
            </a:solidFill>
            <a:prstDash val="solid"/>
          </a:ln>
        </p:spPr>
      </p:sp>
      <p:sp>
        <p:nvSpPr>
          <p:cNvPr id="5" name="Text 3"/>
          <p:cNvSpPr/>
          <p:nvPr/>
        </p:nvSpPr>
        <p:spPr>
          <a:xfrm>
            <a:off x="1000760" y="1879600"/>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1</a:t>
            </a:r>
            <a:endParaRPr lang="en-US" sz="1600" dirty="0"/>
          </a:p>
        </p:txBody>
      </p:sp>
      <p:sp>
        <p:nvSpPr>
          <p:cNvPr id="6" name="Text 4"/>
          <p:cNvSpPr/>
          <p:nvPr/>
        </p:nvSpPr>
        <p:spPr>
          <a:xfrm>
            <a:off x="1000760" y="2387600"/>
            <a:ext cx="13335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Rubik" pitchFamily="34" charset="0"/>
                <a:ea typeface="Rubik" pitchFamily="34" charset="-122"/>
                <a:cs typeface="Rubik" pitchFamily="34" charset="-120"/>
              </a:rPr>
              <a:t>The problem</a:t>
            </a:r>
            <a:endParaRPr lang="en-US" sz="1400" dirty="0"/>
          </a:p>
        </p:txBody>
      </p:sp>
      <p:sp>
        <p:nvSpPr>
          <p:cNvPr id="7" name="Text 5"/>
          <p:cNvSpPr/>
          <p:nvPr/>
        </p:nvSpPr>
        <p:spPr>
          <a:xfrm>
            <a:off x="1000760" y="2702560"/>
            <a:ext cx="13335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Pack the most value into a limited bag</a:t>
            </a:r>
            <a:endParaRPr lang="en-US" sz="1200" dirty="0"/>
          </a:p>
        </p:txBody>
      </p:sp>
      <p:sp>
        <p:nvSpPr>
          <p:cNvPr id="8" name="Shape 6"/>
          <p:cNvSpPr/>
          <p:nvPr/>
        </p:nvSpPr>
        <p:spPr>
          <a:xfrm>
            <a:off x="2604770" y="1697990"/>
            <a:ext cx="1645920" cy="2019300"/>
          </a:xfrm>
          <a:prstGeom prst="roundRect">
            <a:avLst>
              <a:gd name="adj" fmla="val 7330"/>
            </a:avLst>
          </a:prstGeom>
          <a:solidFill>
            <a:srgbClr val="FFFDF8"/>
          </a:solidFill>
          <a:ln w="12700">
            <a:solidFill>
              <a:srgbClr val="DDD6C8"/>
            </a:solidFill>
            <a:prstDash val="solid"/>
          </a:ln>
        </p:spPr>
      </p:sp>
      <p:sp>
        <p:nvSpPr>
          <p:cNvPr id="9" name="Text 7"/>
          <p:cNvSpPr/>
          <p:nvPr/>
        </p:nvSpPr>
        <p:spPr>
          <a:xfrm>
            <a:off x="2786380" y="1879600"/>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2</a:t>
            </a:r>
            <a:endParaRPr lang="en-US" sz="1600" dirty="0"/>
          </a:p>
        </p:txBody>
      </p:sp>
      <p:sp>
        <p:nvSpPr>
          <p:cNvPr id="10" name="Text 8"/>
          <p:cNvSpPr/>
          <p:nvPr/>
        </p:nvSpPr>
        <p:spPr>
          <a:xfrm>
            <a:off x="2786380" y="2387600"/>
            <a:ext cx="13335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Rubik" pitchFamily="34" charset="0"/>
                <a:ea typeface="Rubik" pitchFamily="34" charset="-122"/>
                <a:cs typeface="Rubik" pitchFamily="34" charset="-120"/>
              </a:rPr>
              <a:t>Brute force</a:t>
            </a:r>
            <a:endParaRPr lang="en-US" sz="1400" dirty="0"/>
          </a:p>
        </p:txBody>
      </p:sp>
      <p:sp>
        <p:nvSpPr>
          <p:cNvPr id="11" name="Text 9"/>
          <p:cNvSpPr/>
          <p:nvPr/>
        </p:nvSpPr>
        <p:spPr>
          <a:xfrm>
            <a:off x="2786380" y="2702560"/>
            <a:ext cx="13335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Try every possible subset</a:t>
            </a:r>
            <a:endParaRPr lang="en-US" sz="1200" dirty="0"/>
          </a:p>
        </p:txBody>
      </p:sp>
      <p:sp>
        <p:nvSpPr>
          <p:cNvPr id="12" name="Shape 10"/>
          <p:cNvSpPr/>
          <p:nvPr/>
        </p:nvSpPr>
        <p:spPr>
          <a:xfrm>
            <a:off x="4390390" y="1697990"/>
            <a:ext cx="1645920" cy="2019300"/>
          </a:xfrm>
          <a:prstGeom prst="roundRect">
            <a:avLst>
              <a:gd name="adj" fmla="val 7330"/>
            </a:avLst>
          </a:prstGeom>
          <a:solidFill>
            <a:srgbClr val="FFFDF8"/>
          </a:solidFill>
          <a:ln w="12700">
            <a:solidFill>
              <a:srgbClr val="DDD6C8"/>
            </a:solidFill>
            <a:prstDash val="solid"/>
          </a:ln>
        </p:spPr>
      </p:sp>
      <p:sp>
        <p:nvSpPr>
          <p:cNvPr id="13" name="Text 11"/>
          <p:cNvSpPr/>
          <p:nvPr/>
        </p:nvSpPr>
        <p:spPr>
          <a:xfrm>
            <a:off x="4572000" y="1879600"/>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3</a:t>
            </a:r>
            <a:endParaRPr lang="en-US" sz="1600" dirty="0"/>
          </a:p>
        </p:txBody>
      </p:sp>
      <p:sp>
        <p:nvSpPr>
          <p:cNvPr id="14" name="Text 12"/>
          <p:cNvSpPr/>
          <p:nvPr/>
        </p:nvSpPr>
        <p:spPr>
          <a:xfrm>
            <a:off x="4572000" y="2387600"/>
            <a:ext cx="13335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Rubik" pitchFamily="34" charset="0"/>
                <a:ea typeface="Rubik" pitchFamily="34" charset="-122"/>
                <a:cs typeface="Rubik" pitchFamily="34" charset="-120"/>
              </a:rPr>
              <a:t>Greedy</a:t>
            </a:r>
            <a:endParaRPr lang="en-US" sz="1400" dirty="0"/>
          </a:p>
        </p:txBody>
      </p:sp>
      <p:sp>
        <p:nvSpPr>
          <p:cNvPr id="15" name="Text 13"/>
          <p:cNvSpPr/>
          <p:nvPr/>
        </p:nvSpPr>
        <p:spPr>
          <a:xfrm>
            <a:off x="4572000" y="2702560"/>
            <a:ext cx="13335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Pick by value per kg: fast, but not always right</a:t>
            </a:r>
            <a:endParaRPr lang="en-US" sz="1200" dirty="0"/>
          </a:p>
        </p:txBody>
      </p:sp>
      <p:sp>
        <p:nvSpPr>
          <p:cNvPr id="16" name="Shape 14"/>
          <p:cNvSpPr/>
          <p:nvPr/>
        </p:nvSpPr>
        <p:spPr>
          <a:xfrm>
            <a:off x="6169660" y="1691640"/>
            <a:ext cx="1638300" cy="2032000"/>
          </a:xfrm>
          <a:prstGeom prst="roundRect">
            <a:avLst>
              <a:gd name="adj" fmla="val 7752"/>
            </a:avLst>
          </a:prstGeom>
          <a:solidFill>
            <a:srgbClr val="0F1B2D"/>
          </a:solidFill>
          <a:ln/>
        </p:spPr>
      </p:sp>
      <p:sp>
        <p:nvSpPr>
          <p:cNvPr id="17" name="Text 15"/>
          <p:cNvSpPr/>
          <p:nvPr/>
        </p:nvSpPr>
        <p:spPr>
          <a:xfrm>
            <a:off x="6347460" y="1869440"/>
            <a:ext cx="406400" cy="406400"/>
          </a:xfrm>
          <a:prstGeom prst="roundRect">
            <a:avLst>
              <a:gd name="adj" fmla="val 50000"/>
            </a:avLst>
          </a:prstGeom>
          <a:solidFill>
            <a:srgbClr val="F2B134"/>
          </a:solidFill>
          <a:ln/>
        </p:spPr>
        <p:txBody>
          <a:bodyPr wrap="square" lIns="0" tIns="0" rIns="0" bIns="0" rtlCol="0" anchor="ctr">
            <a:normAutofit/>
          </a:bodyPr>
          <a:lstStyle/>
          <a:p>
            <a:pPr marL="0" indent="0" algn="ctr">
              <a:lnSpc>
                <a:spcPts val="2240"/>
              </a:lnSpc>
              <a:buNone/>
            </a:pPr>
            <a:r>
              <a:rPr lang="en-US" sz="1600" b="1" dirty="0">
                <a:solidFill>
                  <a:srgbClr val="0F1B2D"/>
                </a:solidFill>
                <a:latin typeface="DM Sans" pitchFamily="34" charset="0"/>
                <a:ea typeface="DM Sans" pitchFamily="34" charset="-122"/>
                <a:cs typeface="DM Sans" pitchFamily="34" charset="-120"/>
              </a:rPr>
              <a:t>4</a:t>
            </a:r>
            <a:endParaRPr lang="en-US" sz="1600" dirty="0"/>
          </a:p>
        </p:txBody>
      </p:sp>
      <p:sp>
        <p:nvSpPr>
          <p:cNvPr id="18" name="Text 16"/>
          <p:cNvSpPr/>
          <p:nvPr/>
        </p:nvSpPr>
        <p:spPr>
          <a:xfrm>
            <a:off x="6347460" y="2377440"/>
            <a:ext cx="1333500" cy="4521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6F3EC"/>
                </a:solidFill>
                <a:latin typeface="Rubik" pitchFamily="34" charset="0"/>
                <a:ea typeface="Rubik" pitchFamily="34" charset="-122"/>
                <a:cs typeface="Rubik" pitchFamily="34" charset="-120"/>
              </a:rPr>
              <a:t>Dynamic programming</a:t>
            </a:r>
            <a:endParaRPr lang="en-US" sz="1400" dirty="0"/>
          </a:p>
        </p:txBody>
      </p:sp>
      <p:sp>
        <p:nvSpPr>
          <p:cNvPr id="19" name="Text 17"/>
          <p:cNvSpPr/>
          <p:nvPr/>
        </p:nvSpPr>
        <p:spPr>
          <a:xfrm>
            <a:off x="6347460" y="2905760"/>
            <a:ext cx="13335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6"/>
                </a:solidFill>
                <a:latin typeface="DM Sans" pitchFamily="34" charset="0"/>
                <a:ea typeface="DM Sans" pitchFamily="34" charset="-122"/>
                <a:cs typeface="DM Sans" pitchFamily="34" charset="-120"/>
              </a:rPr>
              <a:t>Build the answer from smaller subproblems</a:t>
            </a:r>
            <a:endParaRPr lang="en-US" sz="1200" dirty="0"/>
          </a:p>
        </p:txBody>
      </p:sp>
      <p:sp>
        <p:nvSpPr>
          <p:cNvPr id="20" name="Shape 18"/>
          <p:cNvSpPr/>
          <p:nvPr/>
        </p:nvSpPr>
        <p:spPr>
          <a:xfrm>
            <a:off x="7941310" y="1697990"/>
            <a:ext cx="1645920" cy="2019300"/>
          </a:xfrm>
          <a:prstGeom prst="roundRect">
            <a:avLst>
              <a:gd name="adj" fmla="val 7330"/>
            </a:avLst>
          </a:prstGeom>
          <a:solidFill>
            <a:srgbClr val="FFFDF8"/>
          </a:solidFill>
          <a:ln w="12700">
            <a:solidFill>
              <a:srgbClr val="DDD6C8"/>
            </a:solidFill>
            <a:prstDash val="solid"/>
          </a:ln>
        </p:spPr>
      </p:sp>
      <p:sp>
        <p:nvSpPr>
          <p:cNvPr id="21" name="Text 19"/>
          <p:cNvSpPr/>
          <p:nvPr/>
        </p:nvSpPr>
        <p:spPr>
          <a:xfrm>
            <a:off x="8122920" y="1879600"/>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5</a:t>
            </a:r>
            <a:endParaRPr lang="en-US" sz="1600" dirty="0"/>
          </a:p>
        </p:txBody>
      </p:sp>
      <p:sp>
        <p:nvSpPr>
          <p:cNvPr id="22" name="Text 20"/>
          <p:cNvSpPr/>
          <p:nvPr/>
        </p:nvSpPr>
        <p:spPr>
          <a:xfrm>
            <a:off x="8122920" y="2387600"/>
            <a:ext cx="13335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Rubik" pitchFamily="34" charset="0"/>
                <a:ea typeface="Rubik" pitchFamily="34" charset="-122"/>
                <a:cs typeface="Rubik" pitchFamily="34" charset="-120"/>
              </a:rPr>
              <a:t>Complexity</a:t>
            </a:r>
            <a:endParaRPr lang="en-US" sz="1400" dirty="0"/>
          </a:p>
        </p:txBody>
      </p:sp>
      <p:sp>
        <p:nvSpPr>
          <p:cNvPr id="23" name="Text 21"/>
          <p:cNvSpPr/>
          <p:nvPr/>
        </p:nvSpPr>
        <p:spPr>
          <a:xfrm>
            <a:off x="8122920" y="2702560"/>
            <a:ext cx="133350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How fast, and how much memory</a:t>
            </a:r>
            <a:endParaRPr lang="en-US" sz="1200" dirty="0"/>
          </a:p>
        </p:txBody>
      </p:sp>
      <p:sp>
        <p:nvSpPr>
          <p:cNvPr id="24" name="Shape 22"/>
          <p:cNvSpPr/>
          <p:nvPr/>
        </p:nvSpPr>
        <p:spPr>
          <a:xfrm>
            <a:off x="9726930" y="1697990"/>
            <a:ext cx="1645920" cy="2019300"/>
          </a:xfrm>
          <a:prstGeom prst="roundRect">
            <a:avLst>
              <a:gd name="adj" fmla="val 7330"/>
            </a:avLst>
          </a:prstGeom>
          <a:solidFill>
            <a:srgbClr val="FFFDF8"/>
          </a:solidFill>
          <a:ln w="12700">
            <a:solidFill>
              <a:srgbClr val="DDD6C8"/>
            </a:solidFill>
            <a:prstDash val="solid"/>
          </a:ln>
        </p:spPr>
      </p:sp>
      <p:sp>
        <p:nvSpPr>
          <p:cNvPr id="25" name="Text 23"/>
          <p:cNvSpPr/>
          <p:nvPr/>
        </p:nvSpPr>
        <p:spPr>
          <a:xfrm>
            <a:off x="9908540" y="1879600"/>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6</a:t>
            </a:r>
            <a:endParaRPr lang="en-US" sz="1600" dirty="0"/>
          </a:p>
        </p:txBody>
      </p:sp>
      <p:sp>
        <p:nvSpPr>
          <p:cNvPr id="26" name="Text 24"/>
          <p:cNvSpPr/>
          <p:nvPr/>
        </p:nvSpPr>
        <p:spPr>
          <a:xfrm>
            <a:off x="9908540" y="2387600"/>
            <a:ext cx="133350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F1B2D"/>
                </a:solidFill>
                <a:latin typeface="Rubik" pitchFamily="34" charset="0"/>
                <a:ea typeface="Rubik" pitchFamily="34" charset="-122"/>
                <a:cs typeface="Rubik" pitchFamily="34" charset="-120"/>
              </a:rPr>
              <a:t>Uses</a:t>
            </a:r>
            <a:endParaRPr lang="en-US" sz="1400" dirty="0"/>
          </a:p>
        </p:txBody>
      </p:sp>
      <p:sp>
        <p:nvSpPr>
          <p:cNvPr id="27" name="Text 25"/>
          <p:cNvSpPr/>
          <p:nvPr/>
        </p:nvSpPr>
        <p:spPr>
          <a:xfrm>
            <a:off x="9908540" y="2702560"/>
            <a:ext cx="13335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Real problems it models</a:t>
            </a:r>
            <a:endParaRPr lang="en-US" sz="1200" dirty="0"/>
          </a:p>
        </p:txBody>
      </p:sp>
      <p:sp>
        <p:nvSpPr>
          <p:cNvPr id="28" name="Text 26"/>
          <p:cNvSpPr/>
          <p:nvPr/>
        </p:nvSpPr>
        <p:spPr>
          <a:xfrm>
            <a:off x="812800" y="3977640"/>
            <a:ext cx="10566400" cy="703580"/>
          </a:xfrm>
          <a:prstGeom prst="roundRect">
            <a:avLst>
              <a:gd name="adj" fmla="val 16245"/>
            </a:avLst>
          </a:prstGeom>
          <a:solidFill>
            <a:srgbClr val="0F1B2D"/>
          </a:solidFill>
          <a:ln/>
        </p:spPr>
        <p:txBody>
          <a:bodyPr wrap="square" lIns="220523" tIns="169723" rIns="0" bIns="144323" rtlCol="0" anchor="t">
            <a:normAutofit/>
          </a:bodyPr>
          <a:lstStyle/>
          <a:p>
            <a:pPr marL="0" indent="0" algn="l">
              <a:lnSpc>
                <a:spcPts val="2340"/>
              </a:lnSpc>
              <a:buNone/>
            </a:pPr>
            <a:r>
              <a:rPr lang="en-US" sz="1800" dirty="0">
                <a:solidFill>
                  <a:srgbClr val="F6F3EC"/>
                </a:solidFill>
                <a:latin typeface="DM Sans" pitchFamily="34" charset="0"/>
                <a:ea typeface="DM Sans" pitchFamily="34" charset="-122"/>
                <a:cs typeface="DM Sans" pitchFamily="34" charset="-120"/>
              </a:rPr>
              <a:t>Each step fixes a weakness of the one before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01 · THE PROBLEM</a:t>
            </a:r>
            <a:endParaRPr lang="en-US" sz="1300" dirty="0"/>
          </a:p>
        </p:txBody>
      </p:sp>
      <p:sp>
        <p:nvSpPr>
          <p:cNvPr id="3" name="Text 1"/>
          <p:cNvSpPr>
            <a:spLocks noGrp="1"/>
          </p:cNvSpPr>
          <p:nvPr>
            <p:ph type="title"/>
          </p:nvPr>
        </p:nvSpPr>
        <p:spPr>
          <a:xfrm>
            <a:off x="812800" y="101854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The hiker’s dilemma</a:t>
            </a:r>
            <a:endParaRPr lang="en-US" sz="3000" dirty="0"/>
          </a:p>
        </p:txBody>
      </p:sp>
      <p:sp>
        <p:nvSpPr>
          <p:cNvPr id="4" name="Shape 2"/>
          <p:cNvSpPr/>
          <p:nvPr/>
        </p:nvSpPr>
        <p:spPr>
          <a:xfrm>
            <a:off x="812800" y="1691641"/>
            <a:ext cx="3302000" cy="2057400"/>
          </a:xfrm>
          <a:prstGeom prst="roundRect">
            <a:avLst>
              <a:gd name="adj" fmla="val 8642"/>
            </a:avLst>
          </a:prstGeom>
          <a:solidFill>
            <a:srgbClr val="0F1B2D"/>
          </a:solidFill>
          <a:ln/>
        </p:spPr>
      </p:sp>
      <p:sp>
        <p:nvSpPr>
          <p:cNvPr id="5" name="Text 3"/>
          <p:cNvSpPr/>
          <p:nvPr/>
        </p:nvSpPr>
        <p:spPr>
          <a:xfrm>
            <a:off x="1092200" y="2004695"/>
            <a:ext cx="2825496"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4FD1C5"/>
                </a:solidFill>
                <a:latin typeface="DM Sans" pitchFamily="34" charset="0"/>
                <a:ea typeface="DM Sans" pitchFamily="34" charset="-122"/>
                <a:cs typeface="DM Sans" pitchFamily="34" charset="-120"/>
              </a:rPr>
              <a:t>THE BAG</a:t>
            </a:r>
            <a:endParaRPr lang="en-US" sz="1300" dirty="0"/>
          </a:p>
        </p:txBody>
      </p:sp>
      <p:sp>
        <p:nvSpPr>
          <p:cNvPr id="6" name="Text 4"/>
          <p:cNvSpPr/>
          <p:nvPr/>
        </p:nvSpPr>
        <p:spPr>
          <a:xfrm>
            <a:off x="1092200" y="2312036"/>
            <a:ext cx="2825496"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2B134"/>
                </a:solidFill>
                <a:latin typeface="Rubik" pitchFamily="34" charset="0"/>
                <a:ea typeface="Rubik" pitchFamily="34" charset="-122"/>
                <a:cs typeface="Rubik" pitchFamily="34" charset="-120"/>
              </a:rPr>
              <a:t>7 kg</a:t>
            </a:r>
            <a:endParaRPr lang="en-US" sz="6000" dirty="0"/>
          </a:p>
        </p:txBody>
      </p:sp>
      <p:sp>
        <p:nvSpPr>
          <p:cNvPr id="7" name="Text 5"/>
          <p:cNvSpPr/>
          <p:nvPr/>
        </p:nvSpPr>
        <p:spPr>
          <a:xfrm>
            <a:off x="1092200" y="3188336"/>
            <a:ext cx="2825496"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B8C4D6"/>
                </a:solidFill>
                <a:latin typeface="DM Sans" pitchFamily="34" charset="0"/>
                <a:ea typeface="DM Sans" pitchFamily="34" charset="-122"/>
                <a:cs typeface="DM Sans" pitchFamily="34" charset="-120"/>
              </a:rPr>
              <a:t>is all it can carry</a:t>
            </a:r>
            <a:endParaRPr lang="en-US" sz="1500" dirty="0"/>
          </a:p>
        </p:txBody>
      </p:sp>
      <p:sp>
        <p:nvSpPr>
          <p:cNvPr id="8" name="Shape 6"/>
          <p:cNvSpPr/>
          <p:nvPr/>
        </p:nvSpPr>
        <p:spPr>
          <a:xfrm>
            <a:off x="4324350" y="1697991"/>
            <a:ext cx="3441700" cy="939800"/>
          </a:xfrm>
          <a:prstGeom prst="roundRect">
            <a:avLst>
              <a:gd name="adj" fmla="val 12838"/>
            </a:avLst>
          </a:prstGeom>
          <a:solidFill>
            <a:srgbClr val="FFFDF8"/>
          </a:solidFill>
          <a:ln w="12700">
            <a:solidFill>
              <a:srgbClr val="DDD6C8"/>
            </a:solidFill>
            <a:prstDash val="solid"/>
          </a:ln>
        </p:spPr>
      </p:sp>
      <p:sp>
        <p:nvSpPr>
          <p:cNvPr id="9" name="Text 7"/>
          <p:cNvSpPr/>
          <p:nvPr/>
        </p:nvSpPr>
        <p:spPr>
          <a:xfrm>
            <a:off x="4505960" y="196469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A</a:t>
            </a:r>
            <a:endParaRPr lang="en-US" sz="1600" dirty="0"/>
          </a:p>
        </p:txBody>
      </p:sp>
      <p:sp>
        <p:nvSpPr>
          <p:cNvPr id="10" name="Text 8"/>
          <p:cNvSpPr/>
          <p:nvPr/>
        </p:nvSpPr>
        <p:spPr>
          <a:xfrm>
            <a:off x="5064760" y="1879600"/>
            <a:ext cx="1003459"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1B2D"/>
                </a:solidFill>
                <a:latin typeface="Rubik" pitchFamily="34" charset="0"/>
                <a:ea typeface="Rubik" pitchFamily="34" charset="-122"/>
                <a:cs typeface="Rubik" pitchFamily="34" charset="-120"/>
              </a:rPr>
              <a:t>Torch</a:t>
            </a:r>
            <a:endParaRPr lang="en-US" sz="1900" dirty="0"/>
          </a:p>
        </p:txBody>
      </p:sp>
      <p:sp>
        <p:nvSpPr>
          <p:cNvPr id="11" name="Text 9"/>
          <p:cNvSpPr/>
          <p:nvPr/>
        </p:nvSpPr>
        <p:spPr>
          <a:xfrm>
            <a:off x="5064760" y="2207261"/>
            <a:ext cx="114319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1 kg · value 1</a:t>
            </a:r>
            <a:endParaRPr lang="en-US" sz="1400" dirty="0"/>
          </a:p>
        </p:txBody>
      </p:sp>
      <p:sp>
        <p:nvSpPr>
          <p:cNvPr id="12" name="Shape 10"/>
          <p:cNvSpPr/>
          <p:nvPr/>
        </p:nvSpPr>
        <p:spPr>
          <a:xfrm>
            <a:off x="7931150" y="1697991"/>
            <a:ext cx="3441700" cy="939800"/>
          </a:xfrm>
          <a:prstGeom prst="roundRect">
            <a:avLst>
              <a:gd name="adj" fmla="val 12838"/>
            </a:avLst>
          </a:prstGeom>
          <a:solidFill>
            <a:srgbClr val="FFFDF8"/>
          </a:solidFill>
          <a:ln w="12700">
            <a:solidFill>
              <a:srgbClr val="DDD6C8"/>
            </a:solidFill>
            <a:prstDash val="solid"/>
          </a:ln>
        </p:spPr>
      </p:sp>
      <p:sp>
        <p:nvSpPr>
          <p:cNvPr id="13" name="Text 11"/>
          <p:cNvSpPr/>
          <p:nvPr/>
        </p:nvSpPr>
        <p:spPr>
          <a:xfrm>
            <a:off x="8112760" y="196469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B</a:t>
            </a:r>
            <a:endParaRPr lang="en-US" sz="1600" dirty="0"/>
          </a:p>
        </p:txBody>
      </p:sp>
      <p:sp>
        <p:nvSpPr>
          <p:cNvPr id="14" name="Text 12"/>
          <p:cNvSpPr/>
          <p:nvPr/>
        </p:nvSpPr>
        <p:spPr>
          <a:xfrm>
            <a:off x="8671560" y="1879600"/>
            <a:ext cx="1105535"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1B2D"/>
                </a:solidFill>
                <a:latin typeface="Rubik" pitchFamily="34" charset="0"/>
                <a:ea typeface="Rubik" pitchFamily="34" charset="-122"/>
                <a:cs typeface="Rubik" pitchFamily="34" charset="-120"/>
              </a:rPr>
              <a:t>Tent</a:t>
            </a:r>
            <a:endParaRPr lang="en-US" sz="1900" dirty="0"/>
          </a:p>
        </p:txBody>
      </p:sp>
      <p:sp>
        <p:nvSpPr>
          <p:cNvPr id="15" name="Text 13"/>
          <p:cNvSpPr/>
          <p:nvPr/>
        </p:nvSpPr>
        <p:spPr>
          <a:xfrm>
            <a:off x="8671560" y="2207261"/>
            <a:ext cx="126568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3 kg · value 4</a:t>
            </a:r>
            <a:endParaRPr lang="en-US" sz="1400" dirty="0"/>
          </a:p>
        </p:txBody>
      </p:sp>
      <p:sp>
        <p:nvSpPr>
          <p:cNvPr id="16" name="Shape 14"/>
          <p:cNvSpPr/>
          <p:nvPr/>
        </p:nvSpPr>
        <p:spPr>
          <a:xfrm>
            <a:off x="4324350" y="2802891"/>
            <a:ext cx="3441700" cy="939800"/>
          </a:xfrm>
          <a:prstGeom prst="roundRect">
            <a:avLst>
              <a:gd name="adj" fmla="val 12838"/>
            </a:avLst>
          </a:prstGeom>
          <a:solidFill>
            <a:srgbClr val="FFFDF8"/>
          </a:solidFill>
          <a:ln w="12700">
            <a:solidFill>
              <a:srgbClr val="DDD6C8"/>
            </a:solidFill>
            <a:prstDash val="solid"/>
          </a:ln>
        </p:spPr>
      </p:sp>
      <p:sp>
        <p:nvSpPr>
          <p:cNvPr id="17" name="Text 15"/>
          <p:cNvSpPr/>
          <p:nvPr/>
        </p:nvSpPr>
        <p:spPr>
          <a:xfrm>
            <a:off x="4505960" y="306959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C</a:t>
            </a:r>
            <a:endParaRPr lang="en-US" sz="1600" dirty="0"/>
          </a:p>
        </p:txBody>
      </p:sp>
      <p:sp>
        <p:nvSpPr>
          <p:cNvPr id="18" name="Text 16"/>
          <p:cNvSpPr/>
          <p:nvPr/>
        </p:nvSpPr>
        <p:spPr>
          <a:xfrm>
            <a:off x="5064760" y="2984500"/>
            <a:ext cx="1108948"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1B2D"/>
                </a:solidFill>
                <a:latin typeface="Rubik" pitchFamily="34" charset="0"/>
                <a:ea typeface="Rubik" pitchFamily="34" charset="-122"/>
                <a:cs typeface="Rubik" pitchFamily="34" charset="-120"/>
              </a:rPr>
              <a:t>Stove</a:t>
            </a:r>
            <a:endParaRPr lang="en-US" sz="1900" dirty="0"/>
          </a:p>
        </p:txBody>
      </p:sp>
      <p:sp>
        <p:nvSpPr>
          <p:cNvPr id="19" name="Text 17"/>
          <p:cNvSpPr/>
          <p:nvPr/>
        </p:nvSpPr>
        <p:spPr>
          <a:xfrm>
            <a:off x="5064760" y="3312161"/>
            <a:ext cx="126977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4 kg · value 5</a:t>
            </a:r>
            <a:endParaRPr lang="en-US" sz="1400" dirty="0"/>
          </a:p>
        </p:txBody>
      </p:sp>
      <p:sp>
        <p:nvSpPr>
          <p:cNvPr id="20" name="Shape 18"/>
          <p:cNvSpPr/>
          <p:nvPr/>
        </p:nvSpPr>
        <p:spPr>
          <a:xfrm>
            <a:off x="7931150" y="2802891"/>
            <a:ext cx="3441700" cy="939800"/>
          </a:xfrm>
          <a:prstGeom prst="roundRect">
            <a:avLst>
              <a:gd name="adj" fmla="val 12838"/>
            </a:avLst>
          </a:prstGeom>
          <a:solidFill>
            <a:srgbClr val="FFFDF8"/>
          </a:solidFill>
          <a:ln w="12700">
            <a:solidFill>
              <a:srgbClr val="DDD6C8"/>
            </a:solidFill>
            <a:prstDash val="solid"/>
          </a:ln>
        </p:spPr>
      </p:sp>
      <p:sp>
        <p:nvSpPr>
          <p:cNvPr id="21" name="Text 19"/>
          <p:cNvSpPr/>
          <p:nvPr/>
        </p:nvSpPr>
        <p:spPr>
          <a:xfrm>
            <a:off x="8112760" y="306959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D</a:t>
            </a:r>
            <a:endParaRPr lang="en-US" sz="1600" dirty="0"/>
          </a:p>
        </p:txBody>
      </p:sp>
      <p:sp>
        <p:nvSpPr>
          <p:cNvPr id="22" name="Text 20"/>
          <p:cNvSpPr/>
          <p:nvPr/>
        </p:nvSpPr>
        <p:spPr>
          <a:xfrm>
            <a:off x="8671560" y="2984500"/>
            <a:ext cx="1095931" cy="314960"/>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0F1B2D"/>
                </a:solidFill>
                <a:latin typeface="Rubik" pitchFamily="34" charset="0"/>
                <a:ea typeface="Rubik" pitchFamily="34" charset="-122"/>
                <a:cs typeface="Rubik" pitchFamily="34" charset="-120"/>
              </a:rPr>
              <a:t>Camera</a:t>
            </a:r>
            <a:endParaRPr lang="en-US" sz="1900" dirty="0"/>
          </a:p>
        </p:txBody>
      </p:sp>
      <p:sp>
        <p:nvSpPr>
          <p:cNvPr id="23" name="Text 21"/>
          <p:cNvSpPr/>
          <p:nvPr/>
        </p:nvSpPr>
        <p:spPr>
          <a:xfrm>
            <a:off x="8671560" y="3312161"/>
            <a:ext cx="12541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5 kg · value 7</a:t>
            </a:r>
            <a:endParaRPr lang="en-US" sz="1400" dirty="0"/>
          </a:p>
        </p:txBody>
      </p:sp>
      <p:sp>
        <p:nvSpPr>
          <p:cNvPr id="24" name="Text 22"/>
          <p:cNvSpPr/>
          <p:nvPr/>
        </p:nvSpPr>
        <p:spPr>
          <a:xfrm>
            <a:off x="812800" y="4003041"/>
            <a:ext cx="10883392" cy="32258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0F1B2D"/>
                </a:solidFill>
                <a:latin typeface="DM Sans" pitchFamily="34" charset="0"/>
                <a:ea typeface="DM Sans" pitchFamily="34" charset="-122"/>
                <a:cs typeface="DM Sans" pitchFamily="34" charset="-120"/>
              </a:rPr>
              <a:t>Which items should go in the bag to get the most total value without passing 7 kg?</a:t>
            </a:r>
            <a:endParaRPr lang="en-US" sz="1800" dirty="0"/>
          </a:p>
        </p:txBody>
      </p:sp>
      <p:sp>
        <p:nvSpPr>
          <p:cNvPr id="25" name="Text 23"/>
          <p:cNvSpPr/>
          <p:nvPr/>
        </p:nvSpPr>
        <p:spPr>
          <a:xfrm>
            <a:off x="812800" y="43764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Value is a usefulness score. Each item exists once, and it goes in whole or stays out.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01 · THE PROBLEM</a:t>
            </a:r>
            <a:endParaRPr lang="en-US" sz="1300" dirty="0"/>
          </a:p>
        </p:txBody>
      </p:sp>
      <p:sp>
        <p:nvSpPr>
          <p:cNvPr id="3" name="Text 1"/>
          <p:cNvSpPr>
            <a:spLocks noGrp="1"/>
          </p:cNvSpPr>
          <p:nvPr>
            <p:ph type="title"/>
          </p:nvPr>
        </p:nvSpPr>
        <p:spPr>
          <a:xfrm>
            <a:off x="812800" y="101854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Formal definition</a:t>
            </a:r>
            <a:endParaRPr lang="en-US" sz="3000" dirty="0"/>
          </a:p>
        </p:txBody>
      </p:sp>
      <p:sp>
        <p:nvSpPr>
          <p:cNvPr id="4" name="Shape 2"/>
          <p:cNvSpPr/>
          <p:nvPr/>
        </p:nvSpPr>
        <p:spPr>
          <a:xfrm>
            <a:off x="812800" y="1691641"/>
            <a:ext cx="5588000" cy="3106420"/>
          </a:xfrm>
          <a:prstGeom prst="roundRect">
            <a:avLst>
              <a:gd name="adj" fmla="val 5724"/>
            </a:avLst>
          </a:prstGeom>
          <a:solidFill>
            <a:srgbClr val="0F1B2D"/>
          </a:solidFill>
          <a:ln/>
        </p:spPr>
      </p:sp>
      <p:sp>
        <p:nvSpPr>
          <p:cNvPr id="5" name="Text 3"/>
          <p:cNvSpPr/>
          <p:nvPr/>
        </p:nvSpPr>
        <p:spPr>
          <a:xfrm>
            <a:off x="1117600" y="1996441"/>
            <a:ext cx="512775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FD1C5"/>
                </a:solidFill>
                <a:latin typeface="JetBrains Mono" pitchFamily="49" charset="0"/>
                <a:ea typeface="JetBrains Mono" pitchFamily="49" charset="-122"/>
                <a:cs typeface="JetBrains Mono" pitchFamily="49" charset="-120"/>
              </a:rPr>
              <a:t>maximize</a:t>
            </a:r>
            <a:endParaRPr lang="en-US" sz="1500" dirty="0"/>
          </a:p>
        </p:txBody>
      </p:sp>
      <p:sp>
        <p:nvSpPr>
          <p:cNvPr id="6" name="Text 4"/>
          <p:cNvSpPr/>
          <p:nvPr/>
        </p:nvSpPr>
        <p:spPr>
          <a:xfrm>
            <a:off x="1117600" y="2352041"/>
            <a:ext cx="512775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6F3EC"/>
                </a:solidFill>
                <a:latin typeface="JetBrains Mono" pitchFamily="49" charset="0"/>
                <a:ea typeface="JetBrains Mono" pitchFamily="49" charset="-122"/>
                <a:cs typeface="JetBrains Mono" pitchFamily="49" charset="-120"/>
              </a:rPr>
              <a:t>Σ v[i] · x[i]</a:t>
            </a:r>
            <a:endParaRPr lang="en-US" sz="2800" dirty="0"/>
          </a:p>
        </p:txBody>
      </p:sp>
      <p:sp>
        <p:nvSpPr>
          <p:cNvPr id="7" name="Text 5"/>
          <p:cNvSpPr/>
          <p:nvPr/>
        </p:nvSpPr>
        <p:spPr>
          <a:xfrm>
            <a:off x="1117600" y="3053080"/>
            <a:ext cx="512775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FD1C5"/>
                </a:solidFill>
                <a:latin typeface="JetBrains Mono" pitchFamily="49" charset="0"/>
                <a:ea typeface="JetBrains Mono" pitchFamily="49" charset="-122"/>
                <a:cs typeface="JetBrains Mono" pitchFamily="49" charset="-120"/>
              </a:rPr>
              <a:t>subject to</a:t>
            </a:r>
            <a:endParaRPr lang="en-US" sz="1500" dirty="0"/>
          </a:p>
        </p:txBody>
      </p:sp>
      <p:sp>
        <p:nvSpPr>
          <p:cNvPr id="8" name="Text 6"/>
          <p:cNvSpPr/>
          <p:nvPr/>
        </p:nvSpPr>
        <p:spPr>
          <a:xfrm>
            <a:off x="1117600" y="3408680"/>
            <a:ext cx="512775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6F3EC"/>
                </a:solidFill>
                <a:latin typeface="JetBrains Mono" pitchFamily="49" charset="0"/>
                <a:ea typeface="JetBrains Mono" pitchFamily="49" charset="-122"/>
                <a:cs typeface="JetBrains Mono" pitchFamily="49" charset="-120"/>
              </a:rPr>
              <a:t>Σ w[i] · x[i] ≤ W</a:t>
            </a:r>
            <a:endParaRPr lang="en-US" sz="2800" dirty="0"/>
          </a:p>
        </p:txBody>
      </p:sp>
      <p:sp>
        <p:nvSpPr>
          <p:cNvPr id="9" name="Text 7"/>
          <p:cNvSpPr/>
          <p:nvPr/>
        </p:nvSpPr>
        <p:spPr>
          <a:xfrm>
            <a:off x="1117600" y="3995420"/>
            <a:ext cx="5127752"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6F3EC"/>
                </a:solidFill>
                <a:latin typeface="JetBrains Mono" pitchFamily="49" charset="0"/>
                <a:ea typeface="JetBrains Mono" pitchFamily="49" charset="-122"/>
                <a:cs typeface="JetBrains Mono" pitchFamily="49" charset="-120"/>
              </a:rPr>
              <a:t>x[i] ∈ {0, 1}</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15760" y="1701801"/>
          <a:ext cx="4663440" cy="2461260"/>
        </p:xfrm>
        <a:graphic>
          <a:graphicData uri="http://schemas.openxmlformats.org/drawingml/2006/table">
            <a:tbl>
              <a:tblPr/>
              <a:tblGrid>
                <a:gridCol w="1305763">
                  <a:extLst>
                    <a:ext uri="{9D8B030D-6E8A-4147-A177-3AD203B41FA5}">
                      <a16:colId xmlns:a16="http://schemas.microsoft.com/office/drawing/2014/main" val="20000"/>
                    </a:ext>
                  </a:extLst>
                </a:gridCol>
                <a:gridCol w="3357677">
                  <a:extLst>
                    <a:ext uri="{9D8B030D-6E8A-4147-A177-3AD203B41FA5}">
                      <a16:colId xmlns:a16="http://schemas.microsoft.com/office/drawing/2014/main" val="20001"/>
                    </a:ext>
                  </a:extLst>
                </a:gridCol>
              </a:tblGrid>
              <a:tr h="410210">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Symbol</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Meaning</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number of items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w[i]</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weight of item i</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v[i]</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value of item i</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capacity of the bag</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x[i]</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 if item i is taken, else 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Text 8"/>
          <p:cNvSpPr/>
          <p:nvPr/>
        </p:nvSpPr>
        <p:spPr>
          <a:xfrm>
            <a:off x="812800" y="5052061"/>
            <a:ext cx="10566400" cy="636270"/>
          </a:xfrm>
          <a:prstGeom prst="roundRect">
            <a:avLst>
              <a:gd name="adj" fmla="val 17964"/>
            </a:avLst>
          </a:prstGeom>
          <a:solidFill>
            <a:srgbClr val="F2B134"/>
          </a:solidFill>
          <a:ln/>
        </p:spPr>
        <p:txBody>
          <a:bodyPr wrap="square" lIns="220523" tIns="144323" rIns="0" bIns="118923" rtlCol="0" anchor="t">
            <a:normAutofit/>
          </a:bodyPr>
          <a:lstStyle/>
          <a:p>
            <a:pPr marL="0" indent="0" algn="l">
              <a:lnSpc>
                <a:spcPts val="2210"/>
              </a:lnSpc>
              <a:buNone/>
            </a:pPr>
            <a:r>
              <a:rPr lang="en-US" sz="1700" b="1" dirty="0">
                <a:solidFill>
                  <a:srgbClr val="0F1B2D"/>
                </a:solidFill>
                <a:latin typeface="DM Sans" pitchFamily="34" charset="0"/>
                <a:ea typeface="DM Sans" pitchFamily="34" charset="-122"/>
                <a:cs typeface="DM Sans" pitchFamily="34" charset="-120"/>
              </a:rPr>
              <a:t>“0/1” means each item is taken whole (x[i] = 1) or left behind (x[i] = 0).</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01 · THE PROBLEM</a:t>
            </a:r>
            <a:endParaRPr lang="en-US" sz="1300" dirty="0"/>
          </a:p>
        </p:txBody>
      </p:sp>
      <p:sp>
        <p:nvSpPr>
          <p:cNvPr id="3" name="Text 1"/>
          <p:cNvSpPr>
            <a:spLocks noGrp="1"/>
          </p:cNvSpPr>
          <p:nvPr>
            <p:ph type="title"/>
          </p:nvPr>
        </p:nvSpPr>
        <p:spPr>
          <a:xfrm>
            <a:off x="812800" y="10185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Three kinds of knapsack</a:t>
            </a:r>
            <a:endParaRPr lang="en-US" sz="3000" dirty="0"/>
          </a:p>
        </p:txBody>
      </p:sp>
      <p:sp>
        <p:nvSpPr>
          <p:cNvPr id="4" name="Shape 2"/>
          <p:cNvSpPr/>
          <p:nvPr/>
        </p:nvSpPr>
        <p:spPr>
          <a:xfrm>
            <a:off x="812800" y="1691639"/>
            <a:ext cx="3373120" cy="3180080"/>
          </a:xfrm>
          <a:prstGeom prst="roundRect">
            <a:avLst>
              <a:gd name="adj" fmla="val 4792"/>
            </a:avLst>
          </a:prstGeom>
          <a:solidFill>
            <a:srgbClr val="0F1B2D"/>
          </a:solidFill>
          <a:ln/>
        </p:spPr>
      </p:sp>
      <p:sp>
        <p:nvSpPr>
          <p:cNvPr id="5" name="Text 3"/>
          <p:cNvSpPr/>
          <p:nvPr/>
        </p:nvSpPr>
        <p:spPr>
          <a:xfrm>
            <a:off x="1066800" y="1945639"/>
            <a:ext cx="1248251" cy="314960"/>
          </a:xfrm>
          <a:prstGeom prst="roundRect">
            <a:avLst>
              <a:gd name="adj" fmla="val 50000"/>
            </a:avLst>
          </a:prstGeom>
          <a:solidFill>
            <a:srgbClr val="F2B134"/>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Today’s focus</a:t>
            </a:r>
            <a:endParaRPr lang="en-US" sz="1200" dirty="0"/>
          </a:p>
        </p:txBody>
      </p:sp>
      <p:sp>
        <p:nvSpPr>
          <p:cNvPr id="6" name="Text 4"/>
          <p:cNvSpPr/>
          <p:nvPr/>
        </p:nvSpPr>
        <p:spPr>
          <a:xfrm>
            <a:off x="1066800" y="2387600"/>
            <a:ext cx="29510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3EC"/>
                </a:solidFill>
                <a:latin typeface="Rubik" pitchFamily="34" charset="0"/>
                <a:ea typeface="Rubik" pitchFamily="34" charset="-122"/>
                <a:cs typeface="Rubik" pitchFamily="34" charset="-120"/>
              </a:rPr>
              <a:t>0/1 knapsack</a:t>
            </a:r>
            <a:endParaRPr lang="en-US" sz="2000" dirty="0"/>
          </a:p>
        </p:txBody>
      </p:sp>
      <p:sp>
        <p:nvSpPr>
          <p:cNvPr id="7" name="Text 5"/>
          <p:cNvSpPr/>
          <p:nvPr/>
        </p:nvSpPr>
        <p:spPr>
          <a:xfrm>
            <a:off x="1066800" y="2819400"/>
            <a:ext cx="29510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8C4D6"/>
                </a:solidFill>
                <a:latin typeface="DM Sans" pitchFamily="34" charset="0"/>
                <a:ea typeface="DM Sans" pitchFamily="34" charset="-122"/>
                <a:cs typeface="DM Sans" pitchFamily="34" charset="-120"/>
              </a:rPr>
              <a:t>Each item is taken whole or left out. This is the classic packing and selection problem.</a:t>
            </a:r>
            <a:endParaRPr lang="en-US" sz="1500" dirty="0"/>
          </a:p>
        </p:txBody>
      </p:sp>
      <p:sp>
        <p:nvSpPr>
          <p:cNvPr id="8" name="Text 6"/>
          <p:cNvSpPr/>
          <p:nvPr/>
        </p:nvSpPr>
        <p:spPr>
          <a:xfrm>
            <a:off x="1066800" y="4386582"/>
            <a:ext cx="3119120"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4FD1C5"/>
                </a:solidFill>
                <a:latin typeface="DM Sans" pitchFamily="34" charset="0"/>
                <a:ea typeface="DM Sans" pitchFamily="34" charset="-122"/>
                <a:cs typeface="DM Sans" pitchFamily="34" charset="-120"/>
              </a:rPr>
              <a:t>Solved by dynamic programming</a:t>
            </a:r>
            <a:endParaRPr lang="en-US" sz="1400" dirty="0"/>
          </a:p>
        </p:txBody>
      </p:sp>
      <p:sp>
        <p:nvSpPr>
          <p:cNvPr id="9" name="Shape 7"/>
          <p:cNvSpPr/>
          <p:nvPr/>
        </p:nvSpPr>
        <p:spPr>
          <a:xfrm>
            <a:off x="4395470" y="1697989"/>
            <a:ext cx="3380740" cy="3167380"/>
          </a:xfrm>
          <a:prstGeom prst="roundRect">
            <a:avLst>
              <a:gd name="adj" fmla="val 4611"/>
            </a:avLst>
          </a:prstGeom>
          <a:solidFill>
            <a:srgbClr val="FFFDF8"/>
          </a:solidFill>
          <a:ln w="12700">
            <a:solidFill>
              <a:srgbClr val="DDD6C8"/>
            </a:solidFill>
            <a:prstDash val="solid"/>
          </a:ln>
        </p:spPr>
      </p:sp>
      <p:sp>
        <p:nvSpPr>
          <p:cNvPr id="10" name="Text 8"/>
          <p:cNvSpPr/>
          <p:nvPr/>
        </p:nvSpPr>
        <p:spPr>
          <a:xfrm>
            <a:off x="4659630" y="1962150"/>
            <a:ext cx="1560513" cy="297180"/>
          </a:xfrm>
          <a:prstGeom prst="roundRect">
            <a:avLst>
              <a:gd name="adj" fmla="val 50000"/>
            </a:avLst>
          </a:prstGeom>
          <a:noFill/>
          <a:ln w="12700">
            <a:solidFill>
              <a:srgbClr val="0B7A75"/>
            </a:solidFill>
            <a:prstDash val="solid"/>
          </a:ln>
        </p:spPr>
        <p:txBody>
          <a:bodyPr wrap="none" lIns="0" tIns="0" rIns="0" bIns="0" rtlCol="0" anchor="ctr">
            <a:normAutofit/>
          </a:bodyPr>
          <a:lstStyle/>
          <a:p>
            <a:pPr marL="0" indent="0" algn="ctr">
              <a:lnSpc>
                <a:spcPts val="1680"/>
              </a:lnSpc>
              <a:buNone/>
            </a:pPr>
            <a:r>
              <a:rPr lang="en-US" sz="1200" b="1" dirty="0">
                <a:solidFill>
                  <a:srgbClr val="0B7A75"/>
                </a:solidFill>
                <a:latin typeface="DM Sans" pitchFamily="34" charset="0"/>
                <a:ea typeface="DM Sans" pitchFamily="34" charset="-122"/>
                <a:cs typeface="DM Sans" pitchFamily="34" charset="-120"/>
              </a:rPr>
              <a:t>Greedy is optimal</a:t>
            </a:r>
            <a:endParaRPr lang="en-US" sz="1200" dirty="0"/>
          </a:p>
        </p:txBody>
      </p:sp>
      <p:sp>
        <p:nvSpPr>
          <p:cNvPr id="11" name="Text 9"/>
          <p:cNvSpPr/>
          <p:nvPr/>
        </p:nvSpPr>
        <p:spPr>
          <a:xfrm>
            <a:off x="4653280" y="2392682"/>
            <a:ext cx="29510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D"/>
                </a:solidFill>
                <a:latin typeface="Rubik" pitchFamily="34" charset="0"/>
                <a:ea typeface="Rubik" pitchFamily="34" charset="-122"/>
                <a:cs typeface="Rubik" pitchFamily="34" charset="-120"/>
              </a:rPr>
              <a:t>Fractional knapsack</a:t>
            </a:r>
            <a:endParaRPr lang="en-US" sz="2000" dirty="0"/>
          </a:p>
        </p:txBody>
      </p:sp>
      <p:sp>
        <p:nvSpPr>
          <p:cNvPr id="12" name="Text 10"/>
          <p:cNvSpPr/>
          <p:nvPr/>
        </p:nvSpPr>
        <p:spPr>
          <a:xfrm>
            <a:off x="4653280" y="2824482"/>
            <a:ext cx="295107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Items can be split, like sand or grain, so part of an item can go in the bag.</a:t>
            </a:r>
            <a:endParaRPr lang="en-US" sz="1500" dirty="0"/>
          </a:p>
        </p:txBody>
      </p:sp>
      <p:sp>
        <p:nvSpPr>
          <p:cNvPr id="13" name="Text 11"/>
          <p:cNvSpPr/>
          <p:nvPr/>
        </p:nvSpPr>
        <p:spPr>
          <a:xfrm>
            <a:off x="4653280" y="4145282"/>
            <a:ext cx="2951074"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7A75"/>
                </a:solidFill>
                <a:latin typeface="DM Sans" pitchFamily="34" charset="0"/>
                <a:ea typeface="DM Sans" pitchFamily="34" charset="-122"/>
                <a:cs typeface="DM Sans" pitchFamily="34" charset="-120"/>
              </a:rPr>
              <a:t>Solved by greedy: best value per kg first</a:t>
            </a:r>
            <a:endParaRPr lang="en-US" sz="1400" dirty="0"/>
          </a:p>
        </p:txBody>
      </p:sp>
      <p:sp>
        <p:nvSpPr>
          <p:cNvPr id="14" name="Shape 12"/>
          <p:cNvSpPr/>
          <p:nvPr/>
        </p:nvSpPr>
        <p:spPr>
          <a:xfrm>
            <a:off x="7992110" y="1697989"/>
            <a:ext cx="3380740" cy="3167380"/>
          </a:xfrm>
          <a:prstGeom prst="roundRect">
            <a:avLst>
              <a:gd name="adj" fmla="val 4611"/>
            </a:avLst>
          </a:prstGeom>
          <a:solidFill>
            <a:srgbClr val="FFFDF8"/>
          </a:solidFill>
          <a:ln w="12700">
            <a:solidFill>
              <a:srgbClr val="DDD6C8"/>
            </a:solidFill>
            <a:prstDash val="solid"/>
          </a:ln>
        </p:spPr>
      </p:sp>
      <p:sp>
        <p:nvSpPr>
          <p:cNvPr id="15" name="Text 13"/>
          <p:cNvSpPr/>
          <p:nvPr/>
        </p:nvSpPr>
        <p:spPr>
          <a:xfrm>
            <a:off x="8256270" y="1962150"/>
            <a:ext cx="1460341" cy="297180"/>
          </a:xfrm>
          <a:prstGeom prst="roundRect">
            <a:avLst>
              <a:gd name="adj" fmla="val 50000"/>
            </a:avLst>
          </a:prstGeom>
          <a:noFill/>
          <a:ln w="12700">
            <a:solidFill>
              <a:srgbClr val="0B7A75"/>
            </a:solidFill>
            <a:prstDash val="solid"/>
          </a:ln>
        </p:spPr>
        <p:txBody>
          <a:bodyPr wrap="none" lIns="0" tIns="0" rIns="0" bIns="0" rtlCol="0" anchor="ctr">
            <a:normAutofit/>
          </a:bodyPr>
          <a:lstStyle/>
          <a:p>
            <a:pPr marL="0" indent="0" algn="ctr">
              <a:lnSpc>
                <a:spcPts val="1680"/>
              </a:lnSpc>
              <a:buNone/>
            </a:pPr>
            <a:r>
              <a:rPr lang="en-US" sz="1200" b="1" dirty="0">
                <a:solidFill>
                  <a:srgbClr val="0B7A75"/>
                </a:solidFill>
                <a:latin typeface="DM Sans" pitchFamily="34" charset="0"/>
                <a:ea typeface="DM Sans" pitchFamily="34" charset="-122"/>
                <a:cs typeface="DM Sans" pitchFamily="34" charset="-120"/>
              </a:rPr>
              <a:t>Repeats allowed</a:t>
            </a:r>
            <a:endParaRPr lang="en-US" sz="1200" dirty="0"/>
          </a:p>
        </p:txBody>
      </p:sp>
      <p:sp>
        <p:nvSpPr>
          <p:cNvPr id="16" name="Text 14"/>
          <p:cNvSpPr/>
          <p:nvPr/>
        </p:nvSpPr>
        <p:spPr>
          <a:xfrm>
            <a:off x="8249920" y="2392682"/>
            <a:ext cx="295107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2D"/>
                </a:solidFill>
                <a:latin typeface="Rubik" pitchFamily="34" charset="0"/>
                <a:ea typeface="Rubik" pitchFamily="34" charset="-122"/>
                <a:cs typeface="Rubik" pitchFamily="34" charset="-120"/>
              </a:rPr>
              <a:t>Unbounded knapsack</a:t>
            </a:r>
            <a:endParaRPr lang="en-US" sz="2000" dirty="0"/>
          </a:p>
        </p:txBody>
      </p:sp>
      <p:sp>
        <p:nvSpPr>
          <p:cNvPr id="17" name="Text 15"/>
          <p:cNvSpPr/>
          <p:nvPr/>
        </p:nvSpPr>
        <p:spPr>
          <a:xfrm>
            <a:off x="8249920" y="2824482"/>
            <a:ext cx="2951074"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DM Sans" pitchFamily="34" charset="0"/>
                <a:ea typeface="DM Sans" pitchFamily="34" charset="-122"/>
                <a:cs typeface="DM Sans" pitchFamily="34" charset="-120"/>
              </a:rPr>
              <a:t>Every item is available in unlimited copies, so the same item can be packed again and again.</a:t>
            </a:r>
            <a:endParaRPr lang="en-US" sz="1500" dirty="0"/>
          </a:p>
        </p:txBody>
      </p:sp>
      <p:sp>
        <p:nvSpPr>
          <p:cNvPr id="18" name="Text 16"/>
          <p:cNvSpPr/>
          <p:nvPr/>
        </p:nvSpPr>
        <p:spPr>
          <a:xfrm>
            <a:off x="8249920" y="4145282"/>
            <a:ext cx="2951074"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7A75"/>
                </a:solidFill>
                <a:latin typeface="DM Sans" pitchFamily="34" charset="0"/>
                <a:ea typeface="DM Sans" pitchFamily="34" charset="-122"/>
                <a:cs typeface="DM Sans" pitchFamily="34" charset="-120"/>
              </a:rPr>
              <a:t>Solved by dynamic programming (1-D)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a:effectLst/>
      </p:bgPr>
    </p:bg>
    <p:spTree>
      <p:nvGrpSpPr>
        <p:cNvPr id="1" name=""/>
        <p:cNvGrpSpPr/>
        <p:nvPr/>
      </p:nvGrpSpPr>
      <p:grpSpPr>
        <a:xfrm>
          <a:off x="0" y="0"/>
          <a:ext cx="0" cy="0"/>
          <a:chOff x="0" y="0"/>
          <a:chExt cx="0" cy="0"/>
        </a:xfrm>
      </p:grpSpPr>
      <p:pic>
        <p:nvPicPr>
          <p:cNvPr id="2" name="Image 0" descr="Decision tree: for items A, B and C each branch either skips or takes the item, giving eight leaves"/>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02 · BRUTE FORCE</a:t>
            </a:r>
            <a:endParaRPr lang="en-US" sz="1300" dirty="0"/>
          </a:p>
        </p:txBody>
      </p:sp>
      <p:sp>
        <p:nvSpPr>
          <p:cNvPr id="4" name="Text 1"/>
          <p:cNvSpPr>
            <a:spLocks noGrp="1"/>
          </p:cNvSpPr>
          <p:nvPr>
            <p:ph type="title"/>
          </p:nvPr>
        </p:nvSpPr>
        <p:spPr>
          <a:xfrm>
            <a:off x="812800" y="10185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Brute force: the decision tree</a:t>
            </a:r>
            <a:endParaRPr lang="en-US" sz="3000" dirty="0"/>
          </a:p>
        </p:txBody>
      </p:sp>
      <p:sp>
        <p:nvSpPr>
          <p:cNvPr id="5" name="Text 2"/>
          <p:cNvSpPr/>
          <p:nvPr/>
        </p:nvSpPr>
        <p:spPr>
          <a:xfrm>
            <a:off x="812800" y="1511300"/>
            <a:ext cx="65405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Solid line: take the item · Dashed line: skip the item</a:t>
            </a:r>
            <a:endParaRPr lang="en-US" sz="1300" dirty="0"/>
          </a:p>
        </p:txBody>
      </p:sp>
      <p:sp>
        <p:nvSpPr>
          <p:cNvPr id="6" name="Text 3"/>
          <p:cNvSpPr/>
          <p:nvPr/>
        </p:nvSpPr>
        <p:spPr>
          <a:xfrm>
            <a:off x="5334000" y="1841500"/>
            <a:ext cx="1117600" cy="406400"/>
          </a:xfrm>
          <a:prstGeom prst="roundRect">
            <a:avLst>
              <a:gd name="adj" fmla="val 21875"/>
            </a:avLst>
          </a:prstGeom>
          <a:solidFill>
            <a:srgbClr val="0F1B2D"/>
          </a:solidFill>
          <a:ln/>
        </p:spPr>
        <p:txBody>
          <a:bodyPr wrap="square" lIns="0" tIns="0" rIns="0" bIns="0" rtlCol="0" anchor="ctr">
            <a:normAutofit/>
          </a:bodyPr>
          <a:lstStyle/>
          <a:p>
            <a:pPr marL="0" indent="0" algn="ctr">
              <a:lnSpc>
                <a:spcPts val="1820"/>
              </a:lnSpc>
              <a:buNone/>
            </a:pPr>
            <a:r>
              <a:rPr lang="en-US" sz="1300" b="1" dirty="0">
                <a:solidFill>
                  <a:srgbClr val="F6F3EC"/>
                </a:solidFill>
                <a:latin typeface="DM Sans" pitchFamily="34" charset="0"/>
                <a:ea typeface="DM Sans" pitchFamily="34" charset="-122"/>
                <a:cs typeface="DM Sans" pitchFamily="34" charset="-120"/>
              </a:rPr>
              <a:t>Start</a:t>
            </a:r>
            <a:endParaRPr lang="en-US" sz="1300" dirty="0"/>
          </a:p>
        </p:txBody>
      </p:sp>
      <p:sp>
        <p:nvSpPr>
          <p:cNvPr id="7" name="Text 4"/>
          <p:cNvSpPr/>
          <p:nvPr/>
        </p:nvSpPr>
        <p:spPr>
          <a:xfrm>
            <a:off x="2800350" y="2546350"/>
            <a:ext cx="1104900" cy="393700"/>
          </a:xfrm>
          <a:prstGeom prst="roundRect">
            <a:avLst>
              <a:gd name="adj" fmla="val 20968"/>
            </a:avLst>
          </a:prstGeom>
          <a:solidFill>
            <a:srgbClr val="FFFDF8"/>
          </a:solidFill>
          <a:ln w="12700">
            <a:solidFill>
              <a:srgbClr val="7A8699"/>
            </a:solidFill>
            <a:prstDash val="dash"/>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skip A</a:t>
            </a:r>
            <a:endParaRPr lang="en-US" sz="1300" dirty="0"/>
          </a:p>
        </p:txBody>
      </p:sp>
      <p:sp>
        <p:nvSpPr>
          <p:cNvPr id="8" name="Text 5"/>
          <p:cNvSpPr/>
          <p:nvPr/>
        </p:nvSpPr>
        <p:spPr>
          <a:xfrm>
            <a:off x="7880350" y="2546350"/>
            <a:ext cx="1104900" cy="393700"/>
          </a:xfrm>
          <a:prstGeom prst="roundRect">
            <a:avLst>
              <a:gd name="adj" fmla="val 20968"/>
            </a:avLst>
          </a:prstGeom>
          <a:solidFill>
            <a:srgbClr val="D7EDEA"/>
          </a:solidFill>
          <a:ln w="12700">
            <a:solidFill>
              <a:srgbClr val="0B7A75"/>
            </a:solidFill>
            <a:prstDash val="solid"/>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take A</a:t>
            </a:r>
            <a:endParaRPr lang="en-US" sz="1300" dirty="0"/>
          </a:p>
        </p:txBody>
      </p:sp>
      <p:sp>
        <p:nvSpPr>
          <p:cNvPr id="9" name="Text 6"/>
          <p:cNvSpPr/>
          <p:nvPr/>
        </p:nvSpPr>
        <p:spPr>
          <a:xfrm>
            <a:off x="1530350" y="3244850"/>
            <a:ext cx="1104900" cy="393700"/>
          </a:xfrm>
          <a:prstGeom prst="roundRect">
            <a:avLst>
              <a:gd name="adj" fmla="val 20968"/>
            </a:avLst>
          </a:prstGeom>
          <a:solidFill>
            <a:srgbClr val="FFFDF8"/>
          </a:solidFill>
          <a:ln w="12700">
            <a:solidFill>
              <a:srgbClr val="7A8699"/>
            </a:solidFill>
            <a:prstDash val="dash"/>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skip B</a:t>
            </a:r>
            <a:endParaRPr lang="en-US" sz="1300" dirty="0"/>
          </a:p>
        </p:txBody>
      </p:sp>
      <p:sp>
        <p:nvSpPr>
          <p:cNvPr id="10" name="Text 7"/>
          <p:cNvSpPr/>
          <p:nvPr/>
        </p:nvSpPr>
        <p:spPr>
          <a:xfrm>
            <a:off x="4070350" y="3244850"/>
            <a:ext cx="1104900" cy="393700"/>
          </a:xfrm>
          <a:prstGeom prst="roundRect">
            <a:avLst>
              <a:gd name="adj" fmla="val 20968"/>
            </a:avLst>
          </a:prstGeom>
          <a:solidFill>
            <a:srgbClr val="D7EDEA"/>
          </a:solidFill>
          <a:ln w="12700">
            <a:solidFill>
              <a:srgbClr val="0B7A75"/>
            </a:solidFill>
            <a:prstDash val="solid"/>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take B</a:t>
            </a:r>
            <a:endParaRPr lang="en-US" sz="1300" dirty="0"/>
          </a:p>
        </p:txBody>
      </p:sp>
      <p:sp>
        <p:nvSpPr>
          <p:cNvPr id="11" name="Text 8"/>
          <p:cNvSpPr/>
          <p:nvPr/>
        </p:nvSpPr>
        <p:spPr>
          <a:xfrm>
            <a:off x="6610350" y="3244850"/>
            <a:ext cx="1104900" cy="393700"/>
          </a:xfrm>
          <a:prstGeom prst="roundRect">
            <a:avLst>
              <a:gd name="adj" fmla="val 20968"/>
            </a:avLst>
          </a:prstGeom>
          <a:solidFill>
            <a:srgbClr val="FFFDF8"/>
          </a:solidFill>
          <a:ln w="12700">
            <a:solidFill>
              <a:srgbClr val="7A8699"/>
            </a:solidFill>
            <a:prstDash val="dash"/>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skip B</a:t>
            </a:r>
            <a:endParaRPr lang="en-US" sz="1300" dirty="0"/>
          </a:p>
        </p:txBody>
      </p:sp>
      <p:sp>
        <p:nvSpPr>
          <p:cNvPr id="12" name="Text 9"/>
          <p:cNvSpPr/>
          <p:nvPr/>
        </p:nvSpPr>
        <p:spPr>
          <a:xfrm>
            <a:off x="9150350" y="3244850"/>
            <a:ext cx="1104900" cy="393700"/>
          </a:xfrm>
          <a:prstGeom prst="roundRect">
            <a:avLst>
              <a:gd name="adj" fmla="val 20968"/>
            </a:avLst>
          </a:prstGeom>
          <a:solidFill>
            <a:srgbClr val="D7EDEA"/>
          </a:solidFill>
          <a:ln w="12700">
            <a:solidFill>
              <a:srgbClr val="0B7A75"/>
            </a:solidFill>
            <a:prstDash val="solid"/>
          </a:ln>
        </p:spPr>
        <p:txBody>
          <a:bodyPr wrap="squar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take B</a:t>
            </a:r>
            <a:endParaRPr lang="en-US" sz="1300" dirty="0"/>
          </a:p>
        </p:txBody>
      </p:sp>
      <p:sp>
        <p:nvSpPr>
          <p:cNvPr id="13" name="Shape 10"/>
          <p:cNvSpPr/>
          <p:nvPr/>
        </p:nvSpPr>
        <p:spPr>
          <a:xfrm>
            <a:off x="895350" y="3943350"/>
            <a:ext cx="1104900" cy="749300"/>
          </a:xfrm>
          <a:prstGeom prst="roundRect">
            <a:avLst>
              <a:gd name="adj" fmla="val 11017"/>
            </a:avLst>
          </a:prstGeom>
          <a:solidFill>
            <a:srgbClr val="FFFDF8"/>
          </a:solidFill>
          <a:ln w="12700">
            <a:solidFill>
              <a:srgbClr val="DDD6C8"/>
            </a:solidFill>
            <a:prstDash val="solid"/>
          </a:ln>
        </p:spPr>
      </p:sp>
      <p:sp>
        <p:nvSpPr>
          <p:cNvPr id="14" name="Text 11"/>
          <p:cNvSpPr/>
          <p:nvPr/>
        </p:nvSpPr>
        <p:spPr>
          <a:xfrm>
            <a:off x="1176726" y="3997961"/>
            <a:ext cx="542068"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skip C</a:t>
            </a:r>
            <a:endParaRPr lang="en-US" sz="1200" dirty="0"/>
          </a:p>
        </p:txBody>
      </p:sp>
      <p:sp>
        <p:nvSpPr>
          <p:cNvPr id="15" name="Text 12"/>
          <p:cNvSpPr/>
          <p:nvPr/>
        </p:nvSpPr>
        <p:spPr>
          <a:xfrm>
            <a:off x="1263777" y="4211321"/>
            <a:ext cx="36804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0 kg</a:t>
            </a:r>
            <a:endParaRPr lang="en-US" sz="1200" dirty="0"/>
          </a:p>
        </p:txBody>
      </p:sp>
      <p:sp>
        <p:nvSpPr>
          <p:cNvPr id="16" name="Text 13"/>
          <p:cNvSpPr/>
          <p:nvPr/>
        </p:nvSpPr>
        <p:spPr>
          <a:xfrm>
            <a:off x="1223772" y="4424682"/>
            <a:ext cx="44805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0 pts</a:t>
            </a:r>
            <a:endParaRPr lang="en-US" sz="1200" dirty="0"/>
          </a:p>
        </p:txBody>
      </p:sp>
      <p:sp>
        <p:nvSpPr>
          <p:cNvPr id="17" name="Shape 14"/>
          <p:cNvSpPr/>
          <p:nvPr/>
        </p:nvSpPr>
        <p:spPr>
          <a:xfrm>
            <a:off x="2165350" y="3943350"/>
            <a:ext cx="1104900" cy="749300"/>
          </a:xfrm>
          <a:prstGeom prst="roundRect">
            <a:avLst>
              <a:gd name="adj" fmla="val 11017"/>
            </a:avLst>
          </a:prstGeom>
          <a:solidFill>
            <a:srgbClr val="FFFDF8"/>
          </a:solidFill>
          <a:ln w="12700">
            <a:solidFill>
              <a:srgbClr val="DDD6C8"/>
            </a:solidFill>
            <a:prstDash val="solid"/>
          </a:ln>
        </p:spPr>
      </p:sp>
      <p:sp>
        <p:nvSpPr>
          <p:cNvPr id="18" name="Text 15"/>
          <p:cNvSpPr/>
          <p:nvPr/>
        </p:nvSpPr>
        <p:spPr>
          <a:xfrm>
            <a:off x="2436432" y="3997961"/>
            <a:ext cx="562737"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take C</a:t>
            </a:r>
            <a:endParaRPr lang="en-US" sz="1200" dirty="0"/>
          </a:p>
        </p:txBody>
      </p:sp>
      <p:sp>
        <p:nvSpPr>
          <p:cNvPr id="19" name="Text 16"/>
          <p:cNvSpPr/>
          <p:nvPr/>
        </p:nvSpPr>
        <p:spPr>
          <a:xfrm>
            <a:off x="2540825" y="4211321"/>
            <a:ext cx="35394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4 kg</a:t>
            </a:r>
            <a:endParaRPr lang="en-US" sz="1200" dirty="0"/>
          </a:p>
        </p:txBody>
      </p:sp>
      <p:sp>
        <p:nvSpPr>
          <p:cNvPr id="20" name="Text 17"/>
          <p:cNvSpPr/>
          <p:nvPr/>
        </p:nvSpPr>
        <p:spPr>
          <a:xfrm>
            <a:off x="2500535" y="4424682"/>
            <a:ext cx="43453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5 pts</a:t>
            </a:r>
            <a:endParaRPr lang="en-US" sz="1200" dirty="0"/>
          </a:p>
        </p:txBody>
      </p:sp>
      <p:sp>
        <p:nvSpPr>
          <p:cNvPr id="21" name="Shape 18"/>
          <p:cNvSpPr/>
          <p:nvPr/>
        </p:nvSpPr>
        <p:spPr>
          <a:xfrm>
            <a:off x="3435350" y="3943350"/>
            <a:ext cx="1104900" cy="749300"/>
          </a:xfrm>
          <a:prstGeom prst="roundRect">
            <a:avLst>
              <a:gd name="adj" fmla="val 11017"/>
            </a:avLst>
          </a:prstGeom>
          <a:solidFill>
            <a:srgbClr val="FFFDF8"/>
          </a:solidFill>
          <a:ln w="12700">
            <a:solidFill>
              <a:srgbClr val="DDD6C8"/>
            </a:solidFill>
            <a:prstDash val="solid"/>
          </a:ln>
        </p:spPr>
      </p:sp>
      <p:sp>
        <p:nvSpPr>
          <p:cNvPr id="22" name="Text 19"/>
          <p:cNvSpPr/>
          <p:nvPr/>
        </p:nvSpPr>
        <p:spPr>
          <a:xfrm>
            <a:off x="3716726" y="3997961"/>
            <a:ext cx="542068"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skip C</a:t>
            </a:r>
            <a:endParaRPr lang="en-US" sz="1200" dirty="0"/>
          </a:p>
        </p:txBody>
      </p:sp>
      <p:sp>
        <p:nvSpPr>
          <p:cNvPr id="23" name="Text 20"/>
          <p:cNvSpPr/>
          <p:nvPr/>
        </p:nvSpPr>
        <p:spPr>
          <a:xfrm>
            <a:off x="3812262" y="4211321"/>
            <a:ext cx="35099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3 kg</a:t>
            </a:r>
            <a:endParaRPr lang="en-US" sz="1200" dirty="0"/>
          </a:p>
        </p:txBody>
      </p:sp>
      <p:sp>
        <p:nvSpPr>
          <p:cNvPr id="24" name="Text 21"/>
          <p:cNvSpPr/>
          <p:nvPr/>
        </p:nvSpPr>
        <p:spPr>
          <a:xfrm>
            <a:off x="3770733" y="4424682"/>
            <a:ext cx="43405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4 pts</a:t>
            </a:r>
            <a:endParaRPr lang="en-US" sz="1200" dirty="0"/>
          </a:p>
        </p:txBody>
      </p:sp>
      <p:sp>
        <p:nvSpPr>
          <p:cNvPr id="25" name="Shape 22"/>
          <p:cNvSpPr/>
          <p:nvPr/>
        </p:nvSpPr>
        <p:spPr>
          <a:xfrm>
            <a:off x="4708525" y="3946525"/>
            <a:ext cx="1098550" cy="742950"/>
          </a:xfrm>
          <a:prstGeom prst="roundRect">
            <a:avLst>
              <a:gd name="adj" fmla="val 10684"/>
            </a:avLst>
          </a:prstGeom>
          <a:solidFill>
            <a:srgbClr val="F2B134"/>
          </a:solidFill>
          <a:ln w="19050">
            <a:solidFill>
              <a:srgbClr val="0F1B2D"/>
            </a:solidFill>
            <a:prstDash val="solid"/>
          </a:ln>
        </p:spPr>
      </p:sp>
      <p:sp>
        <p:nvSpPr>
          <p:cNvPr id="26" name="Text 23"/>
          <p:cNvSpPr/>
          <p:nvPr/>
        </p:nvSpPr>
        <p:spPr>
          <a:xfrm>
            <a:off x="4976432" y="3997961"/>
            <a:ext cx="562737"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take C</a:t>
            </a:r>
            <a:endParaRPr lang="en-US" sz="1200" dirty="0"/>
          </a:p>
        </p:txBody>
      </p:sp>
      <p:sp>
        <p:nvSpPr>
          <p:cNvPr id="27" name="Text 24"/>
          <p:cNvSpPr/>
          <p:nvPr/>
        </p:nvSpPr>
        <p:spPr>
          <a:xfrm>
            <a:off x="5082072" y="4211321"/>
            <a:ext cx="351377"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7 kg</a:t>
            </a:r>
            <a:endParaRPr lang="en-US" sz="1200" dirty="0"/>
          </a:p>
        </p:txBody>
      </p:sp>
      <p:sp>
        <p:nvSpPr>
          <p:cNvPr id="28" name="Text 25"/>
          <p:cNvSpPr/>
          <p:nvPr/>
        </p:nvSpPr>
        <p:spPr>
          <a:xfrm>
            <a:off x="5034066" y="4424682"/>
            <a:ext cx="447389"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9 pts</a:t>
            </a:r>
            <a:endParaRPr lang="en-US" sz="1200" dirty="0"/>
          </a:p>
        </p:txBody>
      </p:sp>
      <p:sp>
        <p:nvSpPr>
          <p:cNvPr id="29" name="Shape 26"/>
          <p:cNvSpPr/>
          <p:nvPr/>
        </p:nvSpPr>
        <p:spPr>
          <a:xfrm>
            <a:off x="5975350" y="3943350"/>
            <a:ext cx="1104900" cy="749300"/>
          </a:xfrm>
          <a:prstGeom prst="roundRect">
            <a:avLst>
              <a:gd name="adj" fmla="val 11017"/>
            </a:avLst>
          </a:prstGeom>
          <a:solidFill>
            <a:srgbClr val="FFFDF8"/>
          </a:solidFill>
          <a:ln w="12700">
            <a:solidFill>
              <a:srgbClr val="DDD6C8"/>
            </a:solidFill>
            <a:prstDash val="solid"/>
          </a:ln>
        </p:spPr>
      </p:sp>
      <p:sp>
        <p:nvSpPr>
          <p:cNvPr id="30" name="Text 27"/>
          <p:cNvSpPr/>
          <p:nvPr/>
        </p:nvSpPr>
        <p:spPr>
          <a:xfrm>
            <a:off x="6256726" y="3997961"/>
            <a:ext cx="542068"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skip C</a:t>
            </a:r>
            <a:endParaRPr lang="en-US" sz="1200" dirty="0"/>
          </a:p>
        </p:txBody>
      </p:sp>
      <p:sp>
        <p:nvSpPr>
          <p:cNvPr id="31" name="Text 28"/>
          <p:cNvSpPr/>
          <p:nvPr/>
        </p:nvSpPr>
        <p:spPr>
          <a:xfrm>
            <a:off x="6377384" y="4211321"/>
            <a:ext cx="300752"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1 kg</a:t>
            </a:r>
            <a:endParaRPr lang="en-US" sz="1200" dirty="0"/>
          </a:p>
        </p:txBody>
      </p:sp>
      <p:sp>
        <p:nvSpPr>
          <p:cNvPr id="32" name="Text 29"/>
          <p:cNvSpPr/>
          <p:nvPr/>
        </p:nvSpPr>
        <p:spPr>
          <a:xfrm>
            <a:off x="6382306" y="4424682"/>
            <a:ext cx="29098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1 pt</a:t>
            </a:r>
            <a:endParaRPr lang="en-US" sz="1200" dirty="0"/>
          </a:p>
        </p:txBody>
      </p:sp>
      <p:sp>
        <p:nvSpPr>
          <p:cNvPr id="33" name="Shape 30"/>
          <p:cNvSpPr/>
          <p:nvPr/>
        </p:nvSpPr>
        <p:spPr>
          <a:xfrm>
            <a:off x="7245350" y="3943350"/>
            <a:ext cx="1104900" cy="749300"/>
          </a:xfrm>
          <a:prstGeom prst="roundRect">
            <a:avLst>
              <a:gd name="adj" fmla="val 11017"/>
            </a:avLst>
          </a:prstGeom>
          <a:solidFill>
            <a:srgbClr val="FFFDF8"/>
          </a:solidFill>
          <a:ln w="12700">
            <a:solidFill>
              <a:srgbClr val="DDD6C8"/>
            </a:solidFill>
            <a:prstDash val="solid"/>
          </a:ln>
        </p:spPr>
      </p:sp>
      <p:sp>
        <p:nvSpPr>
          <p:cNvPr id="34" name="Text 31"/>
          <p:cNvSpPr/>
          <p:nvPr/>
        </p:nvSpPr>
        <p:spPr>
          <a:xfrm>
            <a:off x="7516432" y="3997961"/>
            <a:ext cx="562737"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take C</a:t>
            </a:r>
            <a:endParaRPr lang="en-US" sz="1200" dirty="0"/>
          </a:p>
        </p:txBody>
      </p:sp>
      <p:sp>
        <p:nvSpPr>
          <p:cNvPr id="35" name="Text 32"/>
          <p:cNvSpPr/>
          <p:nvPr/>
        </p:nvSpPr>
        <p:spPr>
          <a:xfrm>
            <a:off x="7620548" y="4211321"/>
            <a:ext cx="354425"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5 kg</a:t>
            </a:r>
            <a:endParaRPr lang="en-US" sz="1200" dirty="0"/>
          </a:p>
        </p:txBody>
      </p:sp>
      <p:sp>
        <p:nvSpPr>
          <p:cNvPr id="36" name="Text 33"/>
          <p:cNvSpPr/>
          <p:nvPr/>
        </p:nvSpPr>
        <p:spPr>
          <a:xfrm>
            <a:off x="7578829" y="4424682"/>
            <a:ext cx="437864"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6 pts</a:t>
            </a:r>
            <a:endParaRPr lang="en-US" sz="1200" dirty="0"/>
          </a:p>
        </p:txBody>
      </p:sp>
      <p:sp>
        <p:nvSpPr>
          <p:cNvPr id="37" name="Shape 34"/>
          <p:cNvSpPr/>
          <p:nvPr/>
        </p:nvSpPr>
        <p:spPr>
          <a:xfrm>
            <a:off x="8515350" y="3943350"/>
            <a:ext cx="1104900" cy="749300"/>
          </a:xfrm>
          <a:prstGeom prst="roundRect">
            <a:avLst>
              <a:gd name="adj" fmla="val 11017"/>
            </a:avLst>
          </a:prstGeom>
          <a:solidFill>
            <a:srgbClr val="FFFDF8"/>
          </a:solidFill>
          <a:ln w="12700">
            <a:solidFill>
              <a:srgbClr val="DDD6C8"/>
            </a:solidFill>
            <a:prstDash val="solid"/>
          </a:ln>
        </p:spPr>
      </p:sp>
      <p:sp>
        <p:nvSpPr>
          <p:cNvPr id="38" name="Text 35"/>
          <p:cNvSpPr/>
          <p:nvPr/>
        </p:nvSpPr>
        <p:spPr>
          <a:xfrm>
            <a:off x="8796727" y="3997961"/>
            <a:ext cx="542068"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skip C</a:t>
            </a:r>
            <a:endParaRPr lang="en-US" sz="1200" dirty="0"/>
          </a:p>
        </p:txBody>
      </p:sp>
      <p:sp>
        <p:nvSpPr>
          <p:cNvPr id="39" name="Text 36"/>
          <p:cNvSpPr/>
          <p:nvPr/>
        </p:nvSpPr>
        <p:spPr>
          <a:xfrm>
            <a:off x="8890826" y="4211321"/>
            <a:ext cx="35394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4 kg</a:t>
            </a:r>
            <a:endParaRPr lang="en-US" sz="1200" dirty="0"/>
          </a:p>
        </p:txBody>
      </p:sp>
      <p:sp>
        <p:nvSpPr>
          <p:cNvPr id="40" name="Text 37"/>
          <p:cNvSpPr/>
          <p:nvPr/>
        </p:nvSpPr>
        <p:spPr>
          <a:xfrm>
            <a:off x="8850535" y="4424682"/>
            <a:ext cx="434531"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5 pts</a:t>
            </a:r>
            <a:endParaRPr lang="en-US" sz="1200" dirty="0"/>
          </a:p>
        </p:txBody>
      </p:sp>
      <p:sp>
        <p:nvSpPr>
          <p:cNvPr id="41" name="Shape 38"/>
          <p:cNvSpPr/>
          <p:nvPr/>
        </p:nvSpPr>
        <p:spPr>
          <a:xfrm>
            <a:off x="9785350" y="3943350"/>
            <a:ext cx="1104900" cy="749300"/>
          </a:xfrm>
          <a:prstGeom prst="roundRect">
            <a:avLst>
              <a:gd name="adj" fmla="val 11017"/>
            </a:avLst>
          </a:prstGeom>
          <a:solidFill>
            <a:srgbClr val="FFFDF8"/>
          </a:solidFill>
          <a:ln w="12700">
            <a:solidFill>
              <a:srgbClr val="7A8699"/>
            </a:solidFill>
            <a:prstDash val="dash"/>
          </a:ln>
        </p:spPr>
      </p:sp>
      <p:sp>
        <p:nvSpPr>
          <p:cNvPr id="42" name="Text 39"/>
          <p:cNvSpPr/>
          <p:nvPr/>
        </p:nvSpPr>
        <p:spPr>
          <a:xfrm>
            <a:off x="10056432" y="3997961"/>
            <a:ext cx="562737"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take C</a:t>
            </a:r>
            <a:endParaRPr lang="en-US" sz="1200" dirty="0"/>
          </a:p>
        </p:txBody>
      </p:sp>
      <p:sp>
        <p:nvSpPr>
          <p:cNvPr id="43" name="Text 40"/>
          <p:cNvSpPr/>
          <p:nvPr/>
        </p:nvSpPr>
        <p:spPr>
          <a:xfrm>
            <a:off x="10160731" y="4211321"/>
            <a:ext cx="3541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8 kg</a:t>
            </a:r>
            <a:endParaRPr lang="en-US" sz="1200" dirty="0"/>
          </a:p>
        </p:txBody>
      </p:sp>
      <p:sp>
        <p:nvSpPr>
          <p:cNvPr id="44" name="Text 41"/>
          <p:cNvSpPr/>
          <p:nvPr/>
        </p:nvSpPr>
        <p:spPr>
          <a:xfrm>
            <a:off x="10085197" y="4424682"/>
            <a:ext cx="50520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10 pts</a:t>
            </a:r>
            <a:endParaRPr lang="en-US" sz="1200" dirty="0"/>
          </a:p>
        </p:txBody>
      </p:sp>
      <p:sp>
        <p:nvSpPr>
          <p:cNvPr id="45" name="Text 42"/>
          <p:cNvSpPr/>
          <p:nvPr/>
        </p:nvSpPr>
        <p:spPr>
          <a:xfrm>
            <a:off x="4597400" y="47752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B7A75"/>
                </a:solidFill>
                <a:latin typeface="DM Sans" pitchFamily="34" charset="0"/>
                <a:ea typeface="DM Sans" pitchFamily="34" charset="-122"/>
                <a:cs typeface="DM Sans" pitchFamily="34" charset="-120"/>
              </a:rPr>
              <a:t>best: 9 pts</a:t>
            </a:r>
            <a:endParaRPr lang="en-US" sz="1200" dirty="0"/>
          </a:p>
        </p:txBody>
      </p:sp>
      <p:sp>
        <p:nvSpPr>
          <p:cNvPr id="46" name="Text 43"/>
          <p:cNvSpPr/>
          <p:nvPr/>
        </p:nvSpPr>
        <p:spPr>
          <a:xfrm>
            <a:off x="9677400" y="47752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4A5568"/>
                </a:solidFill>
                <a:latin typeface="DM Sans" pitchFamily="34" charset="0"/>
                <a:ea typeface="DM Sans" pitchFamily="34" charset="-122"/>
                <a:cs typeface="DM Sans" pitchFamily="34" charset="-120"/>
              </a:rPr>
              <a:t>too heavy</a:t>
            </a:r>
            <a:endParaRPr lang="en-US" sz="1200" dirty="0"/>
          </a:p>
        </p:txBody>
      </p:sp>
      <p:sp>
        <p:nvSpPr>
          <p:cNvPr id="47" name="Text 44"/>
          <p:cNvSpPr/>
          <p:nvPr/>
        </p:nvSpPr>
        <p:spPr>
          <a:xfrm>
            <a:off x="812800" y="5207000"/>
            <a:ext cx="10883392"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0F1B2D"/>
                </a:solidFill>
                <a:latin typeface="DM Sans" pitchFamily="34" charset="0"/>
                <a:ea typeface="DM Sans" pitchFamily="34" charset="-122"/>
                <a:cs typeface="DM Sans" pitchFamily="34" charset="-120"/>
              </a:rPr>
              <a:t>Three items already give 2³ = 8 combinations. The best one that fits is {B, C}: 7 kg and 9 pts. Adding item D doubles the tree again.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02 · BRUTE FORCE</a:t>
            </a:r>
            <a:endParaRPr lang="en-US" sz="1300" dirty="0"/>
          </a:p>
        </p:txBody>
      </p:sp>
      <p:sp>
        <p:nvSpPr>
          <p:cNvPr id="3" name="Text 1"/>
          <p:cNvSpPr>
            <a:spLocks noGrp="1"/>
          </p:cNvSpPr>
          <p:nvPr>
            <p:ph type="title"/>
          </p:nvPr>
        </p:nvSpPr>
        <p:spPr>
          <a:xfrm>
            <a:off x="812800" y="10185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Why brute force breaks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01799"/>
          <a:ext cx="6695440" cy="2871470"/>
        </p:xfrm>
        <a:graphic>
          <a:graphicData uri="http://schemas.openxmlformats.org/drawingml/2006/table">
            <a:tbl>
              <a:tblPr/>
              <a:tblGrid>
                <a:gridCol w="1071270">
                  <a:extLst>
                    <a:ext uri="{9D8B030D-6E8A-4147-A177-3AD203B41FA5}">
                      <a16:colId xmlns:a16="http://schemas.microsoft.com/office/drawing/2014/main" val="20000"/>
                    </a:ext>
                  </a:extLst>
                </a:gridCol>
                <a:gridCol w="2410358">
                  <a:extLst>
                    <a:ext uri="{9D8B030D-6E8A-4147-A177-3AD203B41FA5}">
                      <a16:colId xmlns:a16="http://schemas.microsoft.com/office/drawing/2014/main" val="20001"/>
                    </a:ext>
                  </a:extLst>
                </a:gridCol>
                <a:gridCol w="3213811">
                  <a:extLst>
                    <a:ext uri="{9D8B030D-6E8A-4147-A177-3AD203B41FA5}">
                      <a16:colId xmlns:a16="http://schemas.microsoft.com/office/drawing/2014/main" val="20002"/>
                    </a:ext>
                  </a:extLst>
                </a:gridCol>
              </a:tblGrid>
              <a:tr h="410210">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Items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Subsets to check</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Time needed</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1,024</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instant</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20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1,048,576</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about 1 millisecond</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30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1,073,741,824</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about 1 second</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40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1.1 trillion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about 18 minutes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50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1.1 quadrillion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about 13 days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60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1.2 quintillion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about 36 years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4674871"/>
            <a:ext cx="69067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Assuming one billion subset checks per second (illustrative).</a:t>
            </a:r>
            <a:endParaRPr lang="en-US" sz="1200" dirty="0"/>
          </a:p>
        </p:txBody>
      </p:sp>
      <p:sp>
        <p:nvSpPr>
          <p:cNvPr id="6" name="Shape 3"/>
          <p:cNvSpPr/>
          <p:nvPr/>
        </p:nvSpPr>
        <p:spPr>
          <a:xfrm>
            <a:off x="7823200" y="1691639"/>
            <a:ext cx="3556000" cy="2402840"/>
          </a:xfrm>
          <a:prstGeom prst="roundRect">
            <a:avLst>
              <a:gd name="adj" fmla="val 7400"/>
            </a:avLst>
          </a:prstGeom>
          <a:solidFill>
            <a:srgbClr val="0F1B2D"/>
          </a:solidFill>
          <a:ln/>
        </p:spPr>
      </p:sp>
      <p:sp>
        <p:nvSpPr>
          <p:cNvPr id="7" name="Text 4"/>
          <p:cNvSpPr/>
          <p:nvPr/>
        </p:nvSpPr>
        <p:spPr>
          <a:xfrm>
            <a:off x="8128000" y="1996439"/>
            <a:ext cx="30347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2B134"/>
                </a:solidFill>
                <a:latin typeface="Rubik" pitchFamily="34" charset="0"/>
                <a:ea typeface="Rubik" pitchFamily="34" charset="-122"/>
                <a:cs typeface="Rubik" pitchFamily="34" charset="-120"/>
              </a:rPr>
              <a:t>×2</a:t>
            </a:r>
            <a:endParaRPr lang="en-US" sz="6000" dirty="0"/>
          </a:p>
        </p:txBody>
      </p:sp>
      <p:sp>
        <p:nvSpPr>
          <p:cNvPr id="8" name="Text 5"/>
          <p:cNvSpPr/>
          <p:nvPr/>
        </p:nvSpPr>
        <p:spPr>
          <a:xfrm>
            <a:off x="8128000" y="2898139"/>
            <a:ext cx="3034792" cy="91694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3EC"/>
                </a:solidFill>
                <a:latin typeface="DM Sans" pitchFamily="34" charset="0"/>
                <a:ea typeface="DM Sans" pitchFamily="34" charset="-122"/>
                <a:cs typeface="DM Sans" pitchFamily="34" charset="-120"/>
              </a:rPr>
              <a:t>Every extra item doubles the number of subsets to check.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03 · GREEDY</a:t>
            </a:r>
            <a:endParaRPr lang="en-US" sz="1300" dirty="0"/>
          </a:p>
        </p:txBody>
      </p:sp>
      <p:sp>
        <p:nvSpPr>
          <p:cNvPr id="3" name="Text 1"/>
          <p:cNvSpPr>
            <a:spLocks noGrp="1"/>
          </p:cNvSpPr>
          <p:nvPr>
            <p:ph type="title"/>
          </p:nvPr>
        </p:nvSpPr>
        <p:spPr>
          <a:xfrm>
            <a:off x="812800" y="101853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Greedy by value per kg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01799"/>
          <a:ext cx="4561840" cy="2051050"/>
        </p:xfrm>
        <a:graphic>
          <a:graphicData uri="http://schemas.openxmlformats.org/drawingml/2006/table">
            <a:tbl>
              <a:tblPr/>
              <a:tblGrid>
                <a:gridCol w="912368">
                  <a:extLst>
                    <a:ext uri="{9D8B030D-6E8A-4147-A177-3AD203B41FA5}">
                      <a16:colId xmlns:a16="http://schemas.microsoft.com/office/drawing/2014/main" val="20000"/>
                    </a:ext>
                  </a:extLst>
                </a:gridCol>
                <a:gridCol w="912368">
                  <a:extLst>
                    <a:ext uri="{9D8B030D-6E8A-4147-A177-3AD203B41FA5}">
                      <a16:colId xmlns:a16="http://schemas.microsoft.com/office/drawing/2014/main" val="20001"/>
                    </a:ext>
                  </a:extLst>
                </a:gridCol>
                <a:gridCol w="1140460">
                  <a:extLst>
                    <a:ext uri="{9D8B030D-6E8A-4147-A177-3AD203B41FA5}">
                      <a16:colId xmlns:a16="http://schemas.microsoft.com/office/drawing/2014/main" val="20002"/>
                    </a:ext>
                  </a:extLst>
                </a:gridCol>
                <a:gridCol w="1596644">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Item</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kg</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Value</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Value/kg</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A</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1.00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B</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3</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4</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1.33</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C</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4</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5</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1.25</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D</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5</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7</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1.40</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854450"/>
            <a:ext cx="470916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Greedy order: D (1.40), B (1.33), C (1.25), A (1.00)</a:t>
            </a:r>
            <a:endParaRPr lang="en-US" sz="1300" dirty="0"/>
          </a:p>
        </p:txBody>
      </p:sp>
      <p:sp>
        <p:nvSpPr>
          <p:cNvPr id="6" name="Shape 3"/>
          <p:cNvSpPr/>
          <p:nvPr/>
        </p:nvSpPr>
        <p:spPr>
          <a:xfrm>
            <a:off x="5695950" y="1697989"/>
            <a:ext cx="5676900" cy="1323340"/>
          </a:xfrm>
          <a:prstGeom prst="roundRect">
            <a:avLst>
              <a:gd name="adj" fmla="val 9117"/>
            </a:avLst>
          </a:prstGeom>
          <a:solidFill>
            <a:srgbClr val="FFFDF8"/>
          </a:solidFill>
          <a:ln w="12700">
            <a:solidFill>
              <a:srgbClr val="DDD6C8"/>
            </a:solidFill>
            <a:prstDash val="solid"/>
          </a:ln>
        </p:spPr>
      </p:sp>
      <p:sp>
        <p:nvSpPr>
          <p:cNvPr id="7" name="Text 4"/>
          <p:cNvSpPr/>
          <p:nvPr/>
        </p:nvSpPr>
        <p:spPr>
          <a:xfrm>
            <a:off x="5902960" y="1905000"/>
            <a:ext cx="80891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1B2D"/>
                </a:solidFill>
                <a:latin typeface="Rubik" pitchFamily="34" charset="0"/>
                <a:ea typeface="Rubik" pitchFamily="34" charset="-122"/>
                <a:cs typeface="Rubik" pitchFamily="34" charset="-120"/>
              </a:rPr>
              <a:t>D + A</a:t>
            </a:r>
            <a:endParaRPr lang="en-US" sz="2200" dirty="0"/>
          </a:p>
        </p:txBody>
      </p:sp>
      <p:sp>
        <p:nvSpPr>
          <p:cNvPr id="8" name="Text 5"/>
          <p:cNvSpPr/>
          <p:nvPr/>
        </p:nvSpPr>
        <p:spPr>
          <a:xfrm>
            <a:off x="6711871" y="1915161"/>
            <a:ext cx="1714897" cy="314960"/>
          </a:xfrm>
          <a:prstGeom prst="roundRect">
            <a:avLst>
              <a:gd name="adj" fmla="val 50000"/>
            </a:avLst>
          </a:prstGeom>
          <a:solidFill>
            <a:srgbClr val="F2B134"/>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Greedy: not optimal</a:t>
            </a:r>
            <a:endParaRPr lang="en-US" sz="1200" dirty="0"/>
          </a:p>
        </p:txBody>
      </p:sp>
      <p:sp>
        <p:nvSpPr>
          <p:cNvPr id="9" name="Text 6"/>
          <p:cNvSpPr/>
          <p:nvPr/>
        </p:nvSpPr>
        <p:spPr>
          <a:xfrm>
            <a:off x="5902960" y="2316482"/>
            <a:ext cx="542076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6 kg, 8 pts. D (5 kg) goes in first, then B and C no longer fit, so only A is added.</a:t>
            </a:r>
            <a:endParaRPr lang="en-US" sz="1400" dirty="0"/>
          </a:p>
        </p:txBody>
      </p:sp>
      <p:sp>
        <p:nvSpPr>
          <p:cNvPr id="10" name="Shape 7"/>
          <p:cNvSpPr/>
          <p:nvPr/>
        </p:nvSpPr>
        <p:spPr>
          <a:xfrm>
            <a:off x="5689600" y="3180082"/>
            <a:ext cx="5689600" cy="1066800"/>
          </a:xfrm>
          <a:prstGeom prst="roundRect">
            <a:avLst>
              <a:gd name="adj" fmla="val 11905"/>
            </a:avLst>
          </a:prstGeom>
          <a:solidFill>
            <a:srgbClr val="0F1B2D"/>
          </a:solidFill>
          <a:ln/>
        </p:spPr>
      </p:sp>
      <p:sp>
        <p:nvSpPr>
          <p:cNvPr id="11" name="Text 8"/>
          <p:cNvSpPr/>
          <p:nvPr/>
        </p:nvSpPr>
        <p:spPr>
          <a:xfrm>
            <a:off x="5892800" y="3383282"/>
            <a:ext cx="80906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3EC"/>
                </a:solidFill>
                <a:latin typeface="Rubik" pitchFamily="34" charset="0"/>
                <a:ea typeface="Rubik" pitchFamily="34" charset="-122"/>
                <a:cs typeface="Rubik" pitchFamily="34" charset="-120"/>
              </a:rPr>
              <a:t>B + C</a:t>
            </a:r>
            <a:endParaRPr lang="en-US" sz="2200" dirty="0"/>
          </a:p>
        </p:txBody>
      </p:sp>
      <p:sp>
        <p:nvSpPr>
          <p:cNvPr id="12" name="Text 9"/>
          <p:cNvSpPr/>
          <p:nvPr/>
        </p:nvSpPr>
        <p:spPr>
          <a:xfrm>
            <a:off x="6701869" y="3393439"/>
            <a:ext cx="840026" cy="314960"/>
          </a:xfrm>
          <a:prstGeom prst="roundRect">
            <a:avLst>
              <a:gd name="adj" fmla="val 50000"/>
            </a:avLst>
          </a:prstGeom>
          <a:solidFill>
            <a:srgbClr val="4FD1C5"/>
          </a:solidFill>
          <a:ln/>
        </p:spPr>
        <p:txBody>
          <a:bodyPr wrap="none" lIns="0" tIns="0" rIns="0" bIns="0" rtlCol="0" anchor="ctr">
            <a:normAutofit/>
          </a:bodyPr>
          <a:lstStyle/>
          <a:p>
            <a:pPr marL="0" indent="0" algn="ctr">
              <a:lnSpc>
                <a:spcPts val="1680"/>
              </a:lnSpc>
              <a:buNone/>
            </a:pPr>
            <a:r>
              <a:rPr lang="en-US" sz="1200" b="1" dirty="0">
                <a:solidFill>
                  <a:srgbClr val="0F1B2D"/>
                </a:solidFill>
                <a:latin typeface="DM Sans" pitchFamily="34" charset="0"/>
                <a:ea typeface="DM Sans" pitchFamily="34" charset="-122"/>
                <a:cs typeface="DM Sans" pitchFamily="34" charset="-120"/>
              </a:rPr>
              <a:t>Optimal</a:t>
            </a:r>
            <a:endParaRPr lang="en-US" sz="1200" dirty="0"/>
          </a:p>
        </p:txBody>
      </p:sp>
      <p:sp>
        <p:nvSpPr>
          <p:cNvPr id="13" name="Text 10"/>
          <p:cNvSpPr/>
          <p:nvPr/>
        </p:nvSpPr>
        <p:spPr>
          <a:xfrm>
            <a:off x="5892800" y="3794761"/>
            <a:ext cx="544169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DM Sans" pitchFamily="34" charset="0"/>
                <a:ea typeface="DM Sans" pitchFamily="34" charset="-122"/>
                <a:cs typeface="DM Sans" pitchFamily="34" charset="-120"/>
              </a:rPr>
              <a:t>7 kg, 9 pts. The bag is full and the total value is higher.</a:t>
            </a:r>
            <a:endParaRPr lang="en-US" sz="1400" dirty="0"/>
          </a:p>
        </p:txBody>
      </p:sp>
      <p:sp>
        <p:nvSpPr>
          <p:cNvPr id="14" name="Text 11"/>
          <p:cNvSpPr/>
          <p:nvPr/>
        </p:nvSpPr>
        <p:spPr>
          <a:xfrm>
            <a:off x="812800" y="4500879"/>
            <a:ext cx="10566400" cy="629920"/>
          </a:xfrm>
          <a:prstGeom prst="roundRect">
            <a:avLst>
              <a:gd name="adj" fmla="val 18145"/>
            </a:avLst>
          </a:prstGeom>
          <a:solidFill>
            <a:srgbClr val="0F1B2D"/>
          </a:solidFill>
          <a:ln/>
        </p:spPr>
        <p:txBody>
          <a:bodyPr wrap="square" lIns="220523" tIns="144323" rIns="0" bIns="118923" rtlCol="0" anchor="t">
            <a:normAutofit/>
          </a:bodyPr>
          <a:lstStyle/>
          <a:p>
            <a:pPr marL="0" indent="0" algn="l">
              <a:lnSpc>
                <a:spcPts val="2160"/>
              </a:lnSpc>
              <a:buNone/>
            </a:pPr>
            <a:r>
              <a:rPr lang="en-US" sz="1600" dirty="0">
                <a:solidFill>
                  <a:srgbClr val="F6F3EC"/>
                </a:solidFill>
                <a:latin typeface="DM Sans" pitchFamily="34" charset="0"/>
                <a:ea typeface="DM Sans" pitchFamily="34" charset="-122"/>
                <a:cs typeface="DM Sans" pitchFamily="34" charset="-120"/>
              </a:rPr>
              <a:t>Greedy is optimal when items can be split (9.67 pts), but not for 0/1 items.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The DP idea</a:t>
            </a:r>
            <a:endParaRPr lang="en-US" sz="3000" dirty="0"/>
          </a:p>
        </p:txBody>
      </p:sp>
      <p:sp>
        <p:nvSpPr>
          <p:cNvPr id="4" name="Shape 2"/>
          <p:cNvSpPr/>
          <p:nvPr/>
        </p:nvSpPr>
        <p:spPr>
          <a:xfrm>
            <a:off x="819150" y="1697992"/>
            <a:ext cx="3380740" cy="1877060"/>
          </a:xfrm>
          <a:prstGeom prst="roundRect">
            <a:avLst>
              <a:gd name="adj" fmla="val 7781"/>
            </a:avLst>
          </a:prstGeom>
          <a:solidFill>
            <a:srgbClr val="FFFDF8"/>
          </a:solidFill>
          <a:ln w="12700">
            <a:solidFill>
              <a:srgbClr val="DDD6C8"/>
            </a:solidFill>
            <a:prstDash val="solid"/>
          </a:ln>
        </p:spPr>
      </p:sp>
      <p:sp>
        <p:nvSpPr>
          <p:cNvPr id="5" name="Text 3"/>
          <p:cNvSpPr/>
          <p:nvPr/>
        </p:nvSpPr>
        <p:spPr>
          <a:xfrm>
            <a:off x="1051560" y="1930400"/>
            <a:ext cx="300339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PROPERTY 1</a:t>
            </a:r>
            <a:endParaRPr lang="en-US" sz="1200" dirty="0"/>
          </a:p>
        </p:txBody>
      </p:sp>
      <p:sp>
        <p:nvSpPr>
          <p:cNvPr id="6" name="Text 4"/>
          <p:cNvSpPr/>
          <p:nvPr/>
        </p:nvSpPr>
        <p:spPr>
          <a:xfrm>
            <a:off x="1051560" y="2232664"/>
            <a:ext cx="300339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Optimal substructure</a:t>
            </a:r>
            <a:endParaRPr lang="en-US" sz="1800" dirty="0"/>
          </a:p>
        </p:txBody>
      </p:sp>
      <p:sp>
        <p:nvSpPr>
          <p:cNvPr id="7" name="Text 5"/>
          <p:cNvSpPr/>
          <p:nvPr/>
        </p:nvSpPr>
        <p:spPr>
          <a:xfrm>
            <a:off x="1051560" y="2595879"/>
            <a:ext cx="30033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The best answer for the full bag is built from the best answers for smaller cases.</a:t>
            </a:r>
            <a:endParaRPr lang="en-US" sz="1400" dirty="0"/>
          </a:p>
        </p:txBody>
      </p:sp>
      <p:sp>
        <p:nvSpPr>
          <p:cNvPr id="8" name="Shape 6"/>
          <p:cNvSpPr/>
          <p:nvPr/>
        </p:nvSpPr>
        <p:spPr>
          <a:xfrm>
            <a:off x="4415790" y="1697992"/>
            <a:ext cx="3380740" cy="1877060"/>
          </a:xfrm>
          <a:prstGeom prst="roundRect">
            <a:avLst>
              <a:gd name="adj" fmla="val 7781"/>
            </a:avLst>
          </a:prstGeom>
          <a:solidFill>
            <a:srgbClr val="FFFDF8"/>
          </a:solidFill>
          <a:ln w="12700">
            <a:solidFill>
              <a:srgbClr val="DDD6C8"/>
            </a:solidFill>
            <a:prstDash val="solid"/>
          </a:ln>
        </p:spPr>
      </p:sp>
      <p:sp>
        <p:nvSpPr>
          <p:cNvPr id="9" name="Text 7"/>
          <p:cNvSpPr/>
          <p:nvPr/>
        </p:nvSpPr>
        <p:spPr>
          <a:xfrm>
            <a:off x="4648200" y="1930400"/>
            <a:ext cx="300339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PROPERTY 2</a:t>
            </a:r>
            <a:endParaRPr lang="en-US" sz="1200" dirty="0"/>
          </a:p>
        </p:txBody>
      </p:sp>
      <p:sp>
        <p:nvSpPr>
          <p:cNvPr id="10" name="Text 8"/>
          <p:cNvSpPr/>
          <p:nvPr/>
        </p:nvSpPr>
        <p:spPr>
          <a:xfrm>
            <a:off x="4648200" y="2232664"/>
            <a:ext cx="314198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Overlapping subproblems</a:t>
            </a:r>
            <a:endParaRPr lang="en-US" sz="1800" dirty="0"/>
          </a:p>
        </p:txBody>
      </p:sp>
      <p:sp>
        <p:nvSpPr>
          <p:cNvPr id="11" name="Text 9"/>
          <p:cNvSpPr/>
          <p:nvPr/>
        </p:nvSpPr>
        <p:spPr>
          <a:xfrm>
            <a:off x="4648200" y="2595879"/>
            <a:ext cx="30033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The same question is asked again and again, so solve it once and store the answer.</a:t>
            </a:r>
            <a:endParaRPr lang="en-US" sz="1400" dirty="0"/>
          </a:p>
        </p:txBody>
      </p:sp>
      <p:sp>
        <p:nvSpPr>
          <p:cNvPr id="12" name="Shape 10"/>
          <p:cNvSpPr/>
          <p:nvPr/>
        </p:nvSpPr>
        <p:spPr>
          <a:xfrm>
            <a:off x="8006080" y="1691642"/>
            <a:ext cx="3373120" cy="1889760"/>
          </a:xfrm>
          <a:prstGeom prst="roundRect">
            <a:avLst>
              <a:gd name="adj" fmla="val 8065"/>
            </a:avLst>
          </a:prstGeom>
          <a:solidFill>
            <a:srgbClr val="0F1B2D"/>
          </a:solidFill>
          <a:ln/>
        </p:spPr>
      </p:sp>
      <p:sp>
        <p:nvSpPr>
          <p:cNvPr id="13" name="Text 11"/>
          <p:cNvSpPr/>
          <p:nvPr/>
        </p:nvSpPr>
        <p:spPr>
          <a:xfrm>
            <a:off x="8234680" y="1920242"/>
            <a:ext cx="300339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1C5"/>
                </a:solidFill>
                <a:latin typeface="DM Sans" pitchFamily="34" charset="0"/>
                <a:ea typeface="DM Sans" pitchFamily="34" charset="-122"/>
                <a:cs typeface="DM Sans" pitchFamily="34" charset="-120"/>
              </a:rPr>
              <a:t>THE STATE</a:t>
            </a:r>
            <a:endParaRPr lang="en-US" sz="1200" dirty="0"/>
          </a:p>
        </p:txBody>
      </p:sp>
      <p:sp>
        <p:nvSpPr>
          <p:cNvPr id="14" name="Text 12"/>
          <p:cNvSpPr/>
          <p:nvPr/>
        </p:nvSpPr>
        <p:spPr>
          <a:xfrm>
            <a:off x="8234680" y="2222500"/>
            <a:ext cx="3003398"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2B134"/>
                </a:solidFill>
                <a:latin typeface="JetBrains Mono" pitchFamily="49" charset="0"/>
                <a:ea typeface="JetBrains Mono" pitchFamily="49" charset="-122"/>
                <a:cs typeface="JetBrains Mono" pitchFamily="49" charset="-120"/>
              </a:rPr>
              <a:t>dp[i][c]</a:t>
            </a:r>
            <a:endParaRPr lang="en-US" sz="3200" dirty="0"/>
          </a:p>
        </p:txBody>
      </p:sp>
      <p:sp>
        <p:nvSpPr>
          <p:cNvPr id="15" name="Text 13"/>
          <p:cNvSpPr/>
          <p:nvPr/>
        </p:nvSpPr>
        <p:spPr>
          <a:xfrm>
            <a:off x="8234680" y="2758442"/>
            <a:ext cx="300339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4D6"/>
                </a:solidFill>
                <a:latin typeface="DM Sans" pitchFamily="34" charset="0"/>
                <a:ea typeface="DM Sans" pitchFamily="34" charset="-122"/>
                <a:cs typeface="DM Sans" pitchFamily="34" charset="-120"/>
              </a:rPr>
              <a:t>Best value using the first i items with a bag of capacity c.</a:t>
            </a:r>
            <a:endParaRPr lang="en-US" sz="1400" dirty="0"/>
          </a:p>
        </p:txBody>
      </p:sp>
      <p:sp>
        <p:nvSpPr>
          <p:cNvPr id="16" name="Text 14"/>
          <p:cNvSpPr/>
          <p:nvPr/>
        </p:nvSpPr>
        <p:spPr>
          <a:xfrm>
            <a:off x="812800" y="3835400"/>
            <a:ext cx="10566400" cy="636270"/>
          </a:xfrm>
          <a:prstGeom prst="roundRect">
            <a:avLst>
              <a:gd name="adj" fmla="val 17964"/>
            </a:avLst>
          </a:prstGeom>
          <a:solidFill>
            <a:srgbClr val="F2B134"/>
          </a:solidFill>
          <a:ln/>
        </p:spPr>
        <p:txBody>
          <a:bodyPr wrap="square" lIns="220523" tIns="144323" rIns="0" bIns="118923" rtlCol="0" anchor="t">
            <a:normAutofit/>
          </a:bodyPr>
          <a:lstStyle/>
          <a:p>
            <a:pPr marL="0" indent="0" algn="l">
              <a:lnSpc>
                <a:spcPts val="2210"/>
              </a:lnSpc>
              <a:buNone/>
            </a:pPr>
            <a:r>
              <a:rPr lang="en-US" sz="1700" b="1" dirty="0">
                <a:solidFill>
                  <a:srgbClr val="0F1B2D"/>
                </a:solidFill>
                <a:latin typeface="DM Sans" pitchFamily="34" charset="0"/>
                <a:ea typeface="DM Sans" pitchFamily="34" charset="-122"/>
                <a:cs typeface="DM Sans" pitchFamily="34" charset="-120"/>
              </a:rPr>
              <a:t>Fill a table from small cases to large ones. The last cell, dp[n][W], is the answer.</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The recurrence</a:t>
            </a:r>
            <a:endParaRPr lang="en-US" sz="3000" dirty="0"/>
          </a:p>
        </p:txBody>
      </p:sp>
      <p:sp>
        <p:nvSpPr>
          <p:cNvPr id="4" name="Shape 2"/>
          <p:cNvSpPr/>
          <p:nvPr/>
        </p:nvSpPr>
        <p:spPr>
          <a:xfrm>
            <a:off x="822325" y="1914525"/>
            <a:ext cx="3282950" cy="806450"/>
          </a:xfrm>
          <a:prstGeom prst="roundRect">
            <a:avLst>
              <a:gd name="adj" fmla="val 12992"/>
            </a:avLst>
          </a:prstGeom>
          <a:solidFill>
            <a:srgbClr val="D7EDEA"/>
          </a:solidFill>
          <a:ln w="19050">
            <a:solidFill>
              <a:srgbClr val="0B7A75"/>
            </a:solidFill>
            <a:prstDash val="solid"/>
          </a:ln>
        </p:spPr>
      </p:sp>
      <p:sp>
        <p:nvSpPr>
          <p:cNvPr id="5" name="Text 3"/>
          <p:cNvSpPr/>
          <p:nvPr/>
        </p:nvSpPr>
        <p:spPr>
          <a:xfrm>
            <a:off x="1916875" y="2052321"/>
            <a:ext cx="1093851"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0B7A75"/>
                </a:solidFill>
                <a:latin typeface="DM Sans" pitchFamily="34" charset="0"/>
                <a:ea typeface="DM Sans" pitchFamily="34" charset="-122"/>
                <a:cs typeface="DM Sans" pitchFamily="34" charset="-120"/>
              </a:rPr>
              <a:t>Take item i</a:t>
            </a:r>
            <a:endParaRPr lang="en-US" sz="1400" dirty="0"/>
          </a:p>
        </p:txBody>
      </p:sp>
      <p:sp>
        <p:nvSpPr>
          <p:cNvPr id="6" name="Text 4"/>
          <p:cNvSpPr/>
          <p:nvPr/>
        </p:nvSpPr>
        <p:spPr>
          <a:xfrm>
            <a:off x="1156208" y="2352042"/>
            <a:ext cx="2615184"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D"/>
                </a:solidFill>
                <a:latin typeface="JetBrains Mono" pitchFamily="49" charset="0"/>
                <a:ea typeface="JetBrains Mono" pitchFamily="49" charset="-122"/>
                <a:cs typeface="JetBrains Mono" pitchFamily="49" charset="-120"/>
              </a:rPr>
              <a:t>v[i] + dp[i−1][c−w[i]]</a:t>
            </a:r>
            <a:endParaRPr lang="en-US" sz="1300" dirty="0"/>
          </a:p>
        </p:txBody>
      </p:sp>
      <p:sp>
        <p:nvSpPr>
          <p:cNvPr id="7" name="Shape 5"/>
          <p:cNvSpPr/>
          <p:nvPr/>
        </p:nvSpPr>
        <p:spPr>
          <a:xfrm>
            <a:off x="4632325" y="1914525"/>
            <a:ext cx="3282950" cy="806450"/>
          </a:xfrm>
          <a:prstGeom prst="roundRect">
            <a:avLst>
              <a:gd name="adj" fmla="val 12992"/>
            </a:avLst>
          </a:prstGeom>
          <a:solidFill>
            <a:srgbClr val="FFFDF8"/>
          </a:solidFill>
          <a:ln w="19050">
            <a:solidFill>
              <a:srgbClr val="4A5568"/>
            </a:solidFill>
            <a:prstDash val="solid"/>
          </a:ln>
        </p:spPr>
      </p:sp>
      <p:sp>
        <p:nvSpPr>
          <p:cNvPr id="8" name="Text 6"/>
          <p:cNvSpPr/>
          <p:nvPr/>
        </p:nvSpPr>
        <p:spPr>
          <a:xfrm>
            <a:off x="5739836" y="2052321"/>
            <a:ext cx="1067848"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4A5568"/>
                </a:solidFill>
                <a:latin typeface="DM Sans" pitchFamily="34" charset="0"/>
                <a:ea typeface="DM Sans" pitchFamily="34" charset="-122"/>
                <a:cs typeface="DM Sans" pitchFamily="34" charset="-120"/>
              </a:rPr>
              <a:t>Skip item i</a:t>
            </a:r>
            <a:endParaRPr lang="en-US" sz="1400" dirty="0"/>
          </a:p>
        </p:txBody>
      </p:sp>
      <p:sp>
        <p:nvSpPr>
          <p:cNvPr id="9" name="Text 7"/>
          <p:cNvSpPr/>
          <p:nvPr/>
        </p:nvSpPr>
        <p:spPr>
          <a:xfrm>
            <a:off x="5679440" y="2352042"/>
            <a:ext cx="1188720"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F1B2D"/>
                </a:solidFill>
                <a:latin typeface="JetBrains Mono" pitchFamily="49" charset="0"/>
                <a:ea typeface="JetBrains Mono" pitchFamily="49" charset="-122"/>
                <a:cs typeface="JetBrains Mono" pitchFamily="49" charset="-120"/>
              </a:rPr>
              <a:t>dp[i−1][c]</a:t>
            </a:r>
            <a:endParaRPr lang="en-US" sz="1300" dirty="0"/>
          </a:p>
        </p:txBody>
      </p:sp>
      <p:sp>
        <p:nvSpPr>
          <p:cNvPr id="10" name="Text 8"/>
          <p:cNvSpPr/>
          <p:nvPr/>
        </p:nvSpPr>
        <p:spPr>
          <a:xfrm>
            <a:off x="2282825" y="3692525"/>
            <a:ext cx="4171950" cy="806450"/>
          </a:xfrm>
          <a:prstGeom prst="roundRect">
            <a:avLst>
              <a:gd name="adj" fmla="val 12992"/>
            </a:avLst>
          </a:prstGeom>
          <a:solidFill>
            <a:srgbClr val="F2B134"/>
          </a:solidFill>
          <a:ln w="19050">
            <a:solidFill>
              <a:srgbClr val="0F1B2D"/>
            </a:solidFill>
            <a:prstDash val="solid"/>
          </a:ln>
        </p:spPr>
        <p:txBody>
          <a:bodyPr wrap="square" lIns="0" tIns="0" rIns="0" bIns="0" rtlCol="0" anchor="ctr">
            <a:normAutofit/>
          </a:bodyPr>
          <a:lstStyle/>
          <a:p>
            <a:pPr marL="0" indent="0" algn="ctr">
              <a:lnSpc>
                <a:spcPts val="2380"/>
              </a:lnSpc>
              <a:buNone/>
            </a:pPr>
            <a:r>
              <a:rPr lang="en-US" sz="1700" b="1" dirty="0">
                <a:solidFill>
                  <a:srgbClr val="0F1B2D"/>
                </a:solidFill>
                <a:latin typeface="JetBrains Mono" pitchFamily="49" charset="0"/>
                <a:ea typeface="JetBrains Mono" pitchFamily="49" charset="-122"/>
                <a:cs typeface="JetBrains Mono" pitchFamily="49" charset="-120"/>
              </a:rPr>
              <a:t>dp[i][c] = max(take, skip)</a:t>
            </a:r>
            <a:endParaRPr lang="en-US" sz="1700" dirty="0"/>
          </a:p>
        </p:txBody>
      </p:sp>
      <p:pic>
        <p:nvPicPr>
          <p:cNvPr id="11" name="Image 0" descr="connector"/>
          <p:cNvPicPr>
            <a:picLocks noChangeAspect="1"/>
          </p:cNvPicPr>
          <p:nvPr/>
        </p:nvPicPr>
        <p:blipFill>
          <a:blip r:embed="rId3"/>
          <a:srcRect/>
          <a:stretch/>
        </p:blipFill>
        <p:spPr>
          <a:xfrm>
            <a:off x="2413000" y="2679700"/>
            <a:ext cx="1066800" cy="1054100"/>
          </a:xfrm>
          <a:prstGeom prst="rect">
            <a:avLst/>
          </a:prstGeom>
        </p:spPr>
      </p:pic>
      <p:pic>
        <p:nvPicPr>
          <p:cNvPr id="12" name="Image 1" descr="connector"/>
          <p:cNvPicPr>
            <a:picLocks noChangeAspect="1"/>
          </p:cNvPicPr>
          <p:nvPr/>
        </p:nvPicPr>
        <p:blipFill>
          <a:blip r:embed="rId4"/>
          <a:srcRect/>
          <a:stretch/>
        </p:blipFill>
        <p:spPr>
          <a:xfrm>
            <a:off x="5257800" y="2679700"/>
            <a:ext cx="1066800" cy="1054100"/>
          </a:xfrm>
          <a:prstGeom prst="rect">
            <a:avLst/>
          </a:prstGeom>
        </p:spPr>
      </p:pic>
      <p:sp>
        <p:nvSpPr>
          <p:cNvPr id="13" name="Shape 9"/>
          <p:cNvSpPr/>
          <p:nvPr/>
        </p:nvSpPr>
        <p:spPr>
          <a:xfrm>
            <a:off x="8432800" y="1905000"/>
            <a:ext cx="2946400" cy="2603500"/>
          </a:xfrm>
          <a:prstGeom prst="roundRect">
            <a:avLst>
              <a:gd name="adj" fmla="val 5854"/>
            </a:avLst>
          </a:prstGeom>
          <a:solidFill>
            <a:srgbClr val="0F1B2D"/>
          </a:solidFill>
          <a:ln/>
        </p:spPr>
      </p:sp>
      <p:sp>
        <p:nvSpPr>
          <p:cNvPr id="14" name="Text 10"/>
          <p:cNvSpPr/>
          <p:nvPr/>
        </p:nvSpPr>
        <p:spPr>
          <a:xfrm>
            <a:off x="8661400" y="2133600"/>
            <a:ext cx="256387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1C5"/>
                </a:solidFill>
                <a:latin typeface="DM Sans" pitchFamily="34" charset="0"/>
                <a:ea typeface="DM Sans" pitchFamily="34" charset="-122"/>
                <a:cs typeface="DM Sans" pitchFamily="34" charset="-120"/>
              </a:rPr>
              <a:t>WHEN CAN WE TAKE?</a:t>
            </a:r>
            <a:endParaRPr lang="en-US" sz="1200" dirty="0"/>
          </a:p>
        </p:txBody>
      </p:sp>
      <p:sp>
        <p:nvSpPr>
          <p:cNvPr id="15" name="Text 11"/>
          <p:cNvSpPr/>
          <p:nvPr/>
        </p:nvSpPr>
        <p:spPr>
          <a:xfrm>
            <a:off x="8661400" y="2461264"/>
            <a:ext cx="256387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2B134"/>
                </a:solidFill>
                <a:latin typeface="JetBrains Mono" pitchFamily="49" charset="0"/>
                <a:ea typeface="JetBrains Mono" pitchFamily="49" charset="-122"/>
                <a:cs typeface="JetBrains Mono" pitchFamily="49" charset="-120"/>
              </a:rPr>
              <a:t>w[i] ≤ c</a:t>
            </a:r>
            <a:endParaRPr lang="en-US" sz="1800" dirty="0"/>
          </a:p>
        </p:txBody>
      </p:sp>
      <p:sp>
        <p:nvSpPr>
          <p:cNvPr id="16" name="Text 12"/>
          <p:cNvSpPr/>
          <p:nvPr/>
        </p:nvSpPr>
        <p:spPr>
          <a:xfrm>
            <a:off x="8661400" y="2895600"/>
            <a:ext cx="256387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C"/>
                </a:solidFill>
                <a:latin typeface="DM Sans" pitchFamily="34" charset="0"/>
                <a:ea typeface="DM Sans" pitchFamily="34" charset="-122"/>
                <a:cs typeface="DM Sans" pitchFamily="34" charset="-120"/>
              </a:rPr>
              <a:t>If item i does not fit, only the skip option is left: dp[i][c] = dp[i−1][c].</a:t>
            </a:r>
            <a:endParaRPr lang="en-US" sz="1400" dirty="0"/>
          </a:p>
        </p:txBody>
      </p:sp>
      <p:sp>
        <p:nvSpPr>
          <p:cNvPr id="17" name="Text 13"/>
          <p:cNvSpPr/>
          <p:nvPr/>
        </p:nvSpPr>
        <p:spPr>
          <a:xfrm>
            <a:off x="812800" y="4889500"/>
            <a:ext cx="771779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2D"/>
                </a:solidFill>
                <a:latin typeface="DM Sans" pitchFamily="34" charset="0"/>
                <a:ea typeface="DM Sans" pitchFamily="34" charset="-122"/>
                <a:cs typeface="DM Sans" pitchFamily="34" charset="-120"/>
              </a:rPr>
              <a:t>Base case: dp[0][c] = 0, because with no items the value is 0.</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Algorithm flowchart</a:t>
            </a:r>
            <a:endParaRPr lang="en-US" sz="3000" dirty="0"/>
          </a:p>
        </p:txBody>
      </p:sp>
      <p:sp>
        <p:nvSpPr>
          <p:cNvPr id="4" name="Text 2"/>
          <p:cNvSpPr/>
          <p:nvPr/>
        </p:nvSpPr>
        <p:spPr>
          <a:xfrm>
            <a:off x="822325" y="1851025"/>
            <a:ext cx="1377950" cy="615950"/>
          </a:xfrm>
          <a:prstGeom prst="roundRect">
            <a:avLst>
              <a:gd name="adj" fmla="val 50000"/>
            </a:avLst>
          </a:prstGeom>
          <a:solidFill>
            <a:srgbClr val="0B7A75"/>
          </a:solidFill>
          <a:ln w="19050">
            <a:solidFill>
              <a:srgbClr val="0B7A75"/>
            </a:solidFill>
            <a:prstDash val="solid"/>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Start</a:t>
            </a:r>
            <a:endParaRPr lang="en-US" sz="1600" dirty="0"/>
          </a:p>
        </p:txBody>
      </p:sp>
      <p:sp>
        <p:nvSpPr>
          <p:cNvPr id="5" name="Text 3"/>
          <p:cNvSpPr/>
          <p:nvPr/>
        </p:nvSpPr>
        <p:spPr>
          <a:xfrm>
            <a:off x="2727325" y="1851025"/>
            <a:ext cx="2266950" cy="615950"/>
          </a:xfrm>
          <a:prstGeom prst="roundRect">
            <a:avLst>
              <a:gd name="adj" fmla="val 14948"/>
            </a:avLst>
          </a:prstGeom>
          <a:solidFill>
            <a:srgbClr val="FFFDF8"/>
          </a:solidFill>
          <a:ln w="19050">
            <a:solidFill>
              <a:srgbClr val="0F1B2D"/>
            </a:solidFill>
            <a:prstDash val="solid"/>
          </a:ln>
        </p:spPr>
        <p:txBody>
          <a:bodyPr wrap="square" lIns="36481" tIns="29547" rIns="36481" bIns="29547" rtlCol="0" anchor="ctr">
            <a:normAutofit/>
          </a:bodyPr>
          <a:lstStyle/>
          <a:p>
            <a:pPr marL="0" indent="0" algn="ctr">
              <a:lnSpc>
                <a:spcPts val="1690"/>
              </a:lnSpc>
              <a:buNone/>
            </a:pPr>
            <a:r>
              <a:rPr lang="en-US" sz="1300" dirty="0">
                <a:solidFill>
                  <a:srgbClr val="0F1B2D"/>
                </a:solidFill>
                <a:latin typeface="DM Sans" pitchFamily="34" charset="0"/>
                <a:ea typeface="DM Sans" pitchFamily="34" charset="-122"/>
                <a:cs typeface="DM Sans" pitchFamily="34" charset="-120"/>
              </a:rPr>
              <a:t>Create dp table, fill row 0 with 0</a:t>
            </a:r>
            <a:endParaRPr lang="en-US" sz="1300" dirty="0"/>
          </a:p>
        </p:txBody>
      </p:sp>
      <p:sp>
        <p:nvSpPr>
          <p:cNvPr id="6" name="Shape 4"/>
          <p:cNvSpPr/>
          <p:nvPr/>
        </p:nvSpPr>
        <p:spPr>
          <a:xfrm>
            <a:off x="5521325" y="1851025"/>
            <a:ext cx="1885950" cy="615950"/>
          </a:xfrm>
          <a:prstGeom prst="roundRect">
            <a:avLst>
              <a:gd name="adj" fmla="val 14948"/>
            </a:avLst>
          </a:prstGeom>
          <a:solidFill>
            <a:srgbClr val="FFFDF8"/>
          </a:solidFill>
          <a:ln w="19050">
            <a:solidFill>
              <a:srgbClr val="0F1B2D"/>
            </a:solidFill>
            <a:prstDash val="solid"/>
          </a:ln>
        </p:spPr>
      </p:sp>
      <p:sp>
        <p:nvSpPr>
          <p:cNvPr id="7" name="Text 5"/>
          <p:cNvSpPr/>
          <p:nvPr/>
        </p:nvSpPr>
        <p:spPr>
          <a:xfrm>
            <a:off x="5850985" y="1918971"/>
            <a:ext cx="122663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0F1B2D"/>
                </a:solidFill>
                <a:latin typeface="DM Sans" pitchFamily="34" charset="0"/>
                <a:ea typeface="DM Sans" pitchFamily="34" charset="-122"/>
                <a:cs typeface="DM Sans" pitchFamily="34" charset="-120"/>
              </a:rPr>
              <a:t>for i = 1 to n</a:t>
            </a:r>
            <a:endParaRPr lang="en-US" sz="1500" dirty="0"/>
          </a:p>
        </p:txBody>
      </p:sp>
      <p:sp>
        <p:nvSpPr>
          <p:cNvPr id="8" name="Text 6"/>
          <p:cNvSpPr/>
          <p:nvPr/>
        </p:nvSpPr>
        <p:spPr>
          <a:xfrm>
            <a:off x="6043486" y="2185671"/>
            <a:ext cx="84162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each item</a:t>
            </a:r>
            <a:endParaRPr lang="en-US" sz="1200" dirty="0"/>
          </a:p>
        </p:txBody>
      </p:sp>
      <p:sp>
        <p:nvSpPr>
          <p:cNvPr id="9" name="Shape 7"/>
          <p:cNvSpPr/>
          <p:nvPr/>
        </p:nvSpPr>
        <p:spPr>
          <a:xfrm>
            <a:off x="7934325" y="1851025"/>
            <a:ext cx="1885950" cy="615950"/>
          </a:xfrm>
          <a:prstGeom prst="roundRect">
            <a:avLst>
              <a:gd name="adj" fmla="val 14948"/>
            </a:avLst>
          </a:prstGeom>
          <a:solidFill>
            <a:srgbClr val="FFFDF8"/>
          </a:solidFill>
          <a:ln w="19050">
            <a:solidFill>
              <a:srgbClr val="0F1B2D"/>
            </a:solidFill>
            <a:prstDash val="solid"/>
          </a:ln>
        </p:spPr>
      </p:sp>
      <p:sp>
        <p:nvSpPr>
          <p:cNvPr id="10" name="Text 8"/>
          <p:cNvSpPr/>
          <p:nvPr/>
        </p:nvSpPr>
        <p:spPr>
          <a:xfrm>
            <a:off x="8140264" y="1918971"/>
            <a:ext cx="1473994"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0F1B2D"/>
                </a:solidFill>
                <a:latin typeface="DM Sans" pitchFamily="34" charset="0"/>
                <a:ea typeface="DM Sans" pitchFamily="34" charset="-122"/>
                <a:cs typeface="DM Sans" pitchFamily="34" charset="-120"/>
              </a:rPr>
              <a:t>for c = 0 to W</a:t>
            </a:r>
            <a:endParaRPr lang="en-US" sz="1500" dirty="0"/>
          </a:p>
        </p:txBody>
      </p:sp>
      <p:sp>
        <p:nvSpPr>
          <p:cNvPr id="11" name="Text 9"/>
          <p:cNvSpPr/>
          <p:nvPr/>
        </p:nvSpPr>
        <p:spPr>
          <a:xfrm>
            <a:off x="8276376" y="2185671"/>
            <a:ext cx="120176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each capacity</a:t>
            </a:r>
            <a:endParaRPr lang="en-US" sz="1200" dirty="0"/>
          </a:p>
        </p:txBody>
      </p:sp>
      <p:pic>
        <p:nvPicPr>
          <p:cNvPr id="12" name="Image 0" descr="diamond"/>
          <p:cNvPicPr>
            <a:picLocks noChangeAspect="1"/>
          </p:cNvPicPr>
          <p:nvPr/>
        </p:nvPicPr>
        <p:blipFill>
          <a:blip r:embed="rId3"/>
          <a:srcRect/>
          <a:stretch/>
        </p:blipFill>
        <p:spPr>
          <a:xfrm>
            <a:off x="7607300" y="2857500"/>
            <a:ext cx="2540000" cy="1397000"/>
          </a:xfrm>
          <a:prstGeom prst="rect">
            <a:avLst/>
          </a:prstGeom>
        </p:spPr>
      </p:pic>
      <p:sp>
        <p:nvSpPr>
          <p:cNvPr id="13" name="Text 10"/>
          <p:cNvSpPr/>
          <p:nvPr/>
        </p:nvSpPr>
        <p:spPr>
          <a:xfrm>
            <a:off x="7896225" y="3397250"/>
            <a:ext cx="1962150" cy="32766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0F1B2D"/>
                </a:solidFill>
                <a:latin typeface="JetBrains Mono" pitchFamily="49" charset="0"/>
                <a:ea typeface="JetBrains Mono" pitchFamily="49" charset="-122"/>
                <a:cs typeface="JetBrains Mono" pitchFamily="49" charset="-120"/>
              </a:rPr>
              <a:t>w[i] ≤ c ?</a:t>
            </a:r>
            <a:endParaRPr lang="en-US" sz="1700" dirty="0"/>
          </a:p>
        </p:txBody>
      </p:sp>
      <p:sp>
        <p:nvSpPr>
          <p:cNvPr id="14" name="Shape 11"/>
          <p:cNvSpPr/>
          <p:nvPr/>
        </p:nvSpPr>
        <p:spPr>
          <a:xfrm>
            <a:off x="4073525" y="3089275"/>
            <a:ext cx="3028950" cy="933450"/>
          </a:xfrm>
          <a:prstGeom prst="roundRect">
            <a:avLst>
              <a:gd name="adj" fmla="val 9864"/>
            </a:avLst>
          </a:prstGeom>
          <a:solidFill>
            <a:srgbClr val="D7EDEA"/>
          </a:solidFill>
          <a:ln w="19050">
            <a:solidFill>
              <a:srgbClr val="0B7A75"/>
            </a:solidFill>
            <a:prstDash val="solid"/>
          </a:ln>
        </p:spPr>
      </p:sp>
      <p:sp>
        <p:nvSpPr>
          <p:cNvPr id="15" name="Text 12"/>
          <p:cNvSpPr/>
          <p:nvPr/>
        </p:nvSpPr>
        <p:spPr>
          <a:xfrm>
            <a:off x="4206240" y="3223264"/>
            <a:ext cx="18653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skip = dp[i−1][c]</a:t>
            </a:r>
            <a:endParaRPr lang="en-US" sz="1200" dirty="0"/>
          </a:p>
        </p:txBody>
      </p:sp>
      <p:sp>
        <p:nvSpPr>
          <p:cNvPr id="16" name="Text 13"/>
          <p:cNvSpPr/>
          <p:nvPr/>
        </p:nvSpPr>
        <p:spPr>
          <a:xfrm>
            <a:off x="4206240" y="3449321"/>
            <a:ext cx="28549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take = v[i] + dp[i−1][c−w[i]]</a:t>
            </a:r>
            <a:endParaRPr lang="en-US" sz="1200" dirty="0"/>
          </a:p>
        </p:txBody>
      </p:sp>
      <p:sp>
        <p:nvSpPr>
          <p:cNvPr id="17" name="Text 14"/>
          <p:cNvSpPr/>
          <p:nvPr/>
        </p:nvSpPr>
        <p:spPr>
          <a:xfrm>
            <a:off x="4206240" y="3675379"/>
            <a:ext cx="285292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1B2D"/>
                </a:solidFill>
                <a:latin typeface="JetBrains Mono" pitchFamily="49" charset="0"/>
                <a:ea typeface="JetBrains Mono" pitchFamily="49" charset="-122"/>
                <a:cs typeface="JetBrains Mono" pitchFamily="49" charset="-120"/>
              </a:rPr>
              <a:t>dp[i][c] = max(skip, take)</a:t>
            </a:r>
            <a:endParaRPr lang="en-US" sz="1200" dirty="0"/>
          </a:p>
        </p:txBody>
      </p:sp>
      <p:sp>
        <p:nvSpPr>
          <p:cNvPr id="18" name="Shape 15"/>
          <p:cNvSpPr/>
          <p:nvPr/>
        </p:nvSpPr>
        <p:spPr>
          <a:xfrm>
            <a:off x="7616825" y="4772025"/>
            <a:ext cx="2520950" cy="615950"/>
          </a:xfrm>
          <a:prstGeom prst="roundRect">
            <a:avLst>
              <a:gd name="adj" fmla="val 14948"/>
            </a:avLst>
          </a:prstGeom>
          <a:solidFill>
            <a:srgbClr val="FFFDF8"/>
          </a:solidFill>
          <a:ln w="19050">
            <a:solidFill>
              <a:srgbClr val="0F1B2D"/>
            </a:solidFill>
            <a:prstDash val="solid"/>
          </a:ln>
        </p:spPr>
      </p:sp>
      <p:sp>
        <p:nvSpPr>
          <p:cNvPr id="19" name="Text 16"/>
          <p:cNvSpPr/>
          <p:nvPr/>
        </p:nvSpPr>
        <p:spPr>
          <a:xfrm>
            <a:off x="7658100" y="4857750"/>
            <a:ext cx="2438401"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F1B2D"/>
                </a:solidFill>
                <a:latin typeface="JetBrains Mono" pitchFamily="49" charset="0"/>
                <a:ea typeface="JetBrains Mono" pitchFamily="49" charset="-122"/>
                <a:cs typeface="JetBrains Mono" pitchFamily="49" charset="-120"/>
              </a:rPr>
              <a:t>dp[i][c] = dp[i−1][c]</a:t>
            </a:r>
            <a:endParaRPr lang="en-US" sz="1300" dirty="0"/>
          </a:p>
        </p:txBody>
      </p:sp>
      <p:sp>
        <p:nvSpPr>
          <p:cNvPr id="20" name="Text 17"/>
          <p:cNvSpPr/>
          <p:nvPr/>
        </p:nvSpPr>
        <p:spPr>
          <a:xfrm>
            <a:off x="8176927" y="5088892"/>
            <a:ext cx="140074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item does not fit</a:t>
            </a:r>
            <a:endParaRPr lang="en-US" sz="1200" dirty="0"/>
          </a:p>
        </p:txBody>
      </p:sp>
      <p:sp>
        <p:nvSpPr>
          <p:cNvPr id="21" name="Text 18"/>
          <p:cNvSpPr/>
          <p:nvPr/>
        </p:nvSpPr>
        <p:spPr>
          <a:xfrm>
            <a:off x="4073525" y="4772025"/>
            <a:ext cx="3028950" cy="615950"/>
          </a:xfrm>
          <a:prstGeom prst="roundRect">
            <a:avLst>
              <a:gd name="adj" fmla="val 14948"/>
            </a:avLst>
          </a:prstGeom>
          <a:solidFill>
            <a:srgbClr val="FFFDF8"/>
          </a:solidFill>
          <a:ln w="19050">
            <a:solidFill>
              <a:srgbClr val="0F1B2D"/>
            </a:solidFill>
            <a:prstDash val="solid"/>
          </a:ln>
        </p:spPr>
        <p:txBody>
          <a:bodyPr wrap="square" lIns="67647" tIns="29547" rIns="67647" bIns="29547" rtlCol="0" anchor="ctr">
            <a:normAutofit/>
          </a:bodyPr>
          <a:lstStyle/>
          <a:p>
            <a:pPr marL="0" indent="0" algn="ctr">
              <a:lnSpc>
                <a:spcPts val="1820"/>
              </a:lnSpc>
              <a:buNone/>
            </a:pPr>
            <a:r>
              <a:rPr lang="en-US" sz="1400" dirty="0">
                <a:solidFill>
                  <a:srgbClr val="0F1B2D"/>
                </a:solidFill>
                <a:latin typeface="DM Sans" pitchFamily="34" charset="0"/>
                <a:ea typeface="DM Sans" pitchFamily="34" charset="-122"/>
                <a:cs typeface="DM Sans" pitchFamily="34" charset="-120"/>
              </a:rPr>
              <a:t>Cell done: next c, then next i</a:t>
            </a:r>
            <a:endParaRPr lang="en-US" sz="1400" dirty="0"/>
          </a:p>
        </p:txBody>
      </p:sp>
      <p:sp>
        <p:nvSpPr>
          <p:cNvPr id="22" name="Text 19"/>
          <p:cNvSpPr/>
          <p:nvPr/>
        </p:nvSpPr>
        <p:spPr>
          <a:xfrm>
            <a:off x="822325" y="4772025"/>
            <a:ext cx="2724150" cy="615950"/>
          </a:xfrm>
          <a:prstGeom prst="roundRect">
            <a:avLst>
              <a:gd name="adj" fmla="val 50000"/>
            </a:avLst>
          </a:prstGeom>
          <a:solidFill>
            <a:srgbClr val="0B7A75"/>
          </a:solidFill>
          <a:ln w="19050">
            <a:solidFill>
              <a:srgbClr val="0B7A75"/>
            </a:solidFill>
            <a:prstDash val="solid"/>
          </a:ln>
        </p:spPr>
        <p:txBody>
          <a:bodyPr wrap="square" lIns="0" tIns="0" rIns="0" bIns="0" rtlCol="0" anchor="ctr">
            <a:normAutofit/>
          </a:bodyPr>
          <a:lstStyle/>
          <a:p>
            <a:pPr marL="0" indent="0" algn="ctr">
              <a:lnSpc>
                <a:spcPts val="2240"/>
              </a:lnSpc>
              <a:buNone/>
            </a:pPr>
            <a:r>
              <a:rPr lang="en-US" sz="1600" b="1" dirty="0">
                <a:solidFill>
                  <a:srgbClr val="FFFDF8"/>
                </a:solidFill>
                <a:latin typeface="DM Sans" pitchFamily="34" charset="0"/>
                <a:ea typeface="DM Sans" pitchFamily="34" charset="-122"/>
                <a:cs typeface="DM Sans" pitchFamily="34" charset="-120"/>
              </a:rPr>
              <a:t>Answer: dp[n][W]</a:t>
            </a:r>
            <a:endParaRPr lang="en-US" sz="1600" dirty="0"/>
          </a:p>
        </p:txBody>
      </p:sp>
      <p:pic>
        <p:nvPicPr>
          <p:cNvPr id="23" name="Image 1" descr="connector"/>
          <p:cNvPicPr>
            <a:picLocks noChangeAspect="1"/>
          </p:cNvPicPr>
          <p:nvPr/>
        </p:nvPicPr>
        <p:blipFill>
          <a:blip r:embed="rId4"/>
          <a:srcRect/>
          <a:stretch/>
        </p:blipFill>
        <p:spPr>
          <a:xfrm>
            <a:off x="2159000" y="2108200"/>
            <a:ext cx="609600" cy="101600"/>
          </a:xfrm>
          <a:prstGeom prst="rect">
            <a:avLst/>
          </a:prstGeom>
        </p:spPr>
      </p:pic>
      <p:pic>
        <p:nvPicPr>
          <p:cNvPr id="24" name="Image 2" descr="connector"/>
          <p:cNvPicPr>
            <a:picLocks noChangeAspect="1"/>
          </p:cNvPicPr>
          <p:nvPr/>
        </p:nvPicPr>
        <p:blipFill>
          <a:blip r:embed="rId4"/>
          <a:srcRect/>
          <a:stretch/>
        </p:blipFill>
        <p:spPr>
          <a:xfrm>
            <a:off x="4953000" y="2108200"/>
            <a:ext cx="609600" cy="101600"/>
          </a:xfrm>
          <a:prstGeom prst="rect">
            <a:avLst/>
          </a:prstGeom>
        </p:spPr>
      </p:pic>
      <p:pic>
        <p:nvPicPr>
          <p:cNvPr id="25" name="Image 3" descr="connector"/>
          <p:cNvPicPr>
            <a:picLocks noChangeAspect="1"/>
          </p:cNvPicPr>
          <p:nvPr/>
        </p:nvPicPr>
        <p:blipFill>
          <a:blip r:embed="rId4"/>
          <a:srcRect/>
          <a:stretch/>
        </p:blipFill>
        <p:spPr>
          <a:xfrm>
            <a:off x="7366000" y="2108200"/>
            <a:ext cx="609600" cy="101600"/>
          </a:xfrm>
          <a:prstGeom prst="rect">
            <a:avLst/>
          </a:prstGeom>
        </p:spPr>
      </p:pic>
      <p:pic>
        <p:nvPicPr>
          <p:cNvPr id="26" name="Image 4" descr="connector"/>
          <p:cNvPicPr>
            <a:picLocks noChangeAspect="1"/>
          </p:cNvPicPr>
          <p:nvPr/>
        </p:nvPicPr>
        <p:blipFill>
          <a:blip r:embed="rId5"/>
          <a:srcRect/>
          <a:stretch/>
        </p:blipFill>
        <p:spPr>
          <a:xfrm>
            <a:off x="8826500" y="2425700"/>
            <a:ext cx="101600" cy="482600"/>
          </a:xfrm>
          <a:prstGeom prst="rect">
            <a:avLst/>
          </a:prstGeom>
        </p:spPr>
      </p:pic>
      <p:pic>
        <p:nvPicPr>
          <p:cNvPr id="27" name="Image 5" descr="connector"/>
          <p:cNvPicPr>
            <a:picLocks noChangeAspect="1"/>
          </p:cNvPicPr>
          <p:nvPr/>
        </p:nvPicPr>
        <p:blipFill>
          <a:blip r:embed="rId6"/>
          <a:srcRect/>
          <a:stretch/>
        </p:blipFill>
        <p:spPr>
          <a:xfrm>
            <a:off x="7061200" y="3505200"/>
            <a:ext cx="596900" cy="101600"/>
          </a:xfrm>
          <a:prstGeom prst="rect">
            <a:avLst/>
          </a:prstGeom>
        </p:spPr>
      </p:pic>
      <p:pic>
        <p:nvPicPr>
          <p:cNvPr id="28" name="Image 6" descr="connector"/>
          <p:cNvPicPr>
            <a:picLocks noChangeAspect="1"/>
          </p:cNvPicPr>
          <p:nvPr/>
        </p:nvPicPr>
        <p:blipFill>
          <a:blip r:embed="rId7"/>
          <a:srcRect/>
          <a:stretch/>
        </p:blipFill>
        <p:spPr>
          <a:xfrm>
            <a:off x="8826500" y="4203700"/>
            <a:ext cx="101600" cy="609600"/>
          </a:xfrm>
          <a:prstGeom prst="rect">
            <a:avLst/>
          </a:prstGeom>
        </p:spPr>
      </p:pic>
      <p:pic>
        <p:nvPicPr>
          <p:cNvPr id="29" name="Image 7" descr="connector"/>
          <p:cNvPicPr>
            <a:picLocks noChangeAspect="1"/>
          </p:cNvPicPr>
          <p:nvPr/>
        </p:nvPicPr>
        <p:blipFill>
          <a:blip r:embed="rId8"/>
          <a:srcRect/>
          <a:stretch/>
        </p:blipFill>
        <p:spPr>
          <a:xfrm>
            <a:off x="5537200" y="3981450"/>
            <a:ext cx="101600" cy="831850"/>
          </a:xfrm>
          <a:prstGeom prst="rect">
            <a:avLst/>
          </a:prstGeom>
        </p:spPr>
      </p:pic>
      <p:pic>
        <p:nvPicPr>
          <p:cNvPr id="30" name="Image 8" descr="connector"/>
          <p:cNvPicPr>
            <a:picLocks noChangeAspect="1"/>
          </p:cNvPicPr>
          <p:nvPr/>
        </p:nvPicPr>
        <p:blipFill>
          <a:blip r:embed="rId6"/>
          <a:srcRect/>
          <a:stretch/>
        </p:blipFill>
        <p:spPr>
          <a:xfrm>
            <a:off x="7061200" y="5029200"/>
            <a:ext cx="596900" cy="101600"/>
          </a:xfrm>
          <a:prstGeom prst="rect">
            <a:avLst/>
          </a:prstGeom>
        </p:spPr>
      </p:pic>
      <p:pic>
        <p:nvPicPr>
          <p:cNvPr id="31" name="Image 9" descr="connector"/>
          <p:cNvPicPr>
            <a:picLocks noChangeAspect="1"/>
          </p:cNvPicPr>
          <p:nvPr/>
        </p:nvPicPr>
        <p:blipFill>
          <a:blip r:embed="rId9"/>
          <a:srcRect/>
          <a:stretch/>
        </p:blipFill>
        <p:spPr>
          <a:xfrm>
            <a:off x="3505200" y="5029200"/>
            <a:ext cx="609600" cy="101600"/>
          </a:xfrm>
          <a:prstGeom prst="rect">
            <a:avLst/>
          </a:prstGeom>
        </p:spPr>
      </p:pic>
      <p:sp>
        <p:nvSpPr>
          <p:cNvPr id="32" name="Text 20"/>
          <p:cNvSpPr/>
          <p:nvPr/>
        </p:nvSpPr>
        <p:spPr>
          <a:xfrm>
            <a:off x="7112000" y="3263900"/>
            <a:ext cx="495300" cy="25654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7A75"/>
                </a:solidFill>
                <a:latin typeface="DM Sans" pitchFamily="34" charset="0"/>
                <a:ea typeface="DM Sans" pitchFamily="34" charset="-122"/>
                <a:cs typeface="DM Sans" pitchFamily="34" charset="-120"/>
              </a:rPr>
              <a:t>Yes</a:t>
            </a:r>
            <a:endParaRPr lang="en-US" sz="1300" dirty="0"/>
          </a:p>
        </p:txBody>
      </p:sp>
      <p:sp>
        <p:nvSpPr>
          <p:cNvPr id="33" name="Text 21"/>
          <p:cNvSpPr/>
          <p:nvPr/>
        </p:nvSpPr>
        <p:spPr>
          <a:xfrm>
            <a:off x="8966200" y="4394200"/>
            <a:ext cx="4318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568"/>
                </a:solidFill>
                <a:latin typeface="DM Sans" pitchFamily="34" charset="0"/>
                <a:ea typeface="DM Sans" pitchFamily="34" charset="-122"/>
                <a:cs typeface="DM Sans" pitchFamily="34" charset="-120"/>
              </a:rPr>
              <a:t>No</a:t>
            </a:r>
            <a:endParaRPr lang="en-US" sz="1300" dirty="0"/>
          </a:p>
        </p:txBody>
      </p:sp>
      <p:sp>
        <p:nvSpPr>
          <p:cNvPr id="34" name="Text 22"/>
          <p:cNvSpPr/>
          <p:nvPr/>
        </p:nvSpPr>
        <p:spPr>
          <a:xfrm>
            <a:off x="812800" y="3111500"/>
            <a:ext cx="287782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F1B2D"/>
                </a:solidFill>
                <a:latin typeface="DM Sans" pitchFamily="34" charset="0"/>
                <a:ea typeface="DM Sans" pitchFamily="34" charset="-122"/>
                <a:cs typeface="DM Sans" pitchFamily="34" charset="-120"/>
              </a:rPr>
              <a:t>Legend</a:t>
            </a:r>
            <a:endParaRPr lang="en-US" sz="1300" dirty="0"/>
          </a:p>
        </p:txBody>
      </p:sp>
      <p:sp>
        <p:nvSpPr>
          <p:cNvPr id="35" name="Text 23"/>
          <p:cNvSpPr/>
          <p:nvPr/>
        </p:nvSpPr>
        <p:spPr>
          <a:xfrm>
            <a:off x="812800" y="3406142"/>
            <a:ext cx="28778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Rounded box: start and end</a:t>
            </a:r>
            <a:endParaRPr lang="en-US" sz="1300" dirty="0"/>
          </a:p>
        </p:txBody>
      </p:sp>
      <p:sp>
        <p:nvSpPr>
          <p:cNvPr id="36" name="Text 24"/>
          <p:cNvSpPr/>
          <p:nvPr/>
        </p:nvSpPr>
        <p:spPr>
          <a:xfrm>
            <a:off x="812800" y="3700779"/>
            <a:ext cx="28778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Rectangle: a step</a:t>
            </a:r>
            <a:endParaRPr lang="en-US" sz="1300" dirty="0"/>
          </a:p>
        </p:txBody>
      </p:sp>
      <p:sp>
        <p:nvSpPr>
          <p:cNvPr id="37" name="Text 25"/>
          <p:cNvSpPr/>
          <p:nvPr/>
        </p:nvSpPr>
        <p:spPr>
          <a:xfrm>
            <a:off x="812800" y="3995421"/>
            <a:ext cx="287782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Diamond: a yes/no decision</a:t>
            </a:r>
            <a:endParaRPr lang="en-US" sz="1300" dirty="0"/>
          </a:p>
        </p:txBody>
      </p:sp>
      <p:sp>
        <p:nvSpPr>
          <p:cNvPr id="38" name="Text 26"/>
          <p:cNvSpPr/>
          <p:nvPr/>
        </p:nvSpPr>
        <p:spPr>
          <a:xfrm>
            <a:off x="4018280" y="5499100"/>
            <a:ext cx="313944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DM Sans" pitchFamily="34" charset="0"/>
                <a:ea typeface="DM Sans" pitchFamily="34" charset="-122"/>
                <a:cs typeface="DM Sans" pitchFamily="34" charset="-120"/>
              </a:rPr>
              <a:t>repeat until every cell is filled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The filled DP table</a:t>
            </a:r>
            <a:endParaRPr lang="en-US" sz="3000" dirty="0"/>
          </a:p>
        </p:txBody>
      </p:sp>
      <p:sp>
        <p:nvSpPr>
          <p:cNvPr id="4" name="Text 2"/>
          <p:cNvSpPr/>
          <p:nvPr/>
        </p:nvSpPr>
        <p:spPr>
          <a:xfrm>
            <a:off x="815975" y="1694817"/>
            <a:ext cx="1136650"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DM Sans" pitchFamily="34" charset="0"/>
                <a:ea typeface="DM Sans" pitchFamily="34" charset="-122"/>
                <a:cs typeface="DM Sans" pitchFamily="34" charset="-120"/>
              </a:rPr>
              <a:t>items</a:t>
            </a:r>
            <a:endParaRPr lang="en-US" sz="1200" dirty="0"/>
          </a:p>
        </p:txBody>
      </p:sp>
      <p:sp>
        <p:nvSpPr>
          <p:cNvPr id="5" name="Text 3"/>
          <p:cNvSpPr/>
          <p:nvPr/>
        </p:nvSpPr>
        <p:spPr>
          <a:xfrm>
            <a:off x="1958975"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c=0</a:t>
            </a:r>
            <a:endParaRPr lang="en-US" sz="1300" dirty="0"/>
          </a:p>
        </p:txBody>
      </p:sp>
      <p:sp>
        <p:nvSpPr>
          <p:cNvPr id="6" name="Text 4"/>
          <p:cNvSpPr/>
          <p:nvPr/>
        </p:nvSpPr>
        <p:spPr>
          <a:xfrm>
            <a:off x="2749550"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c=1</a:t>
            </a:r>
            <a:endParaRPr lang="en-US" sz="1300" dirty="0"/>
          </a:p>
        </p:txBody>
      </p:sp>
      <p:sp>
        <p:nvSpPr>
          <p:cNvPr id="7" name="Text 5"/>
          <p:cNvSpPr/>
          <p:nvPr/>
        </p:nvSpPr>
        <p:spPr>
          <a:xfrm>
            <a:off x="3540125"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c=2</a:t>
            </a:r>
            <a:endParaRPr lang="en-US" sz="1300" dirty="0"/>
          </a:p>
        </p:txBody>
      </p:sp>
      <p:sp>
        <p:nvSpPr>
          <p:cNvPr id="8" name="Text 6"/>
          <p:cNvSpPr/>
          <p:nvPr/>
        </p:nvSpPr>
        <p:spPr>
          <a:xfrm>
            <a:off x="4330700"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c=3</a:t>
            </a:r>
            <a:endParaRPr lang="en-US" sz="1300" dirty="0"/>
          </a:p>
        </p:txBody>
      </p:sp>
      <p:sp>
        <p:nvSpPr>
          <p:cNvPr id="9" name="Text 7"/>
          <p:cNvSpPr/>
          <p:nvPr/>
        </p:nvSpPr>
        <p:spPr>
          <a:xfrm>
            <a:off x="5121275"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c=4</a:t>
            </a:r>
            <a:endParaRPr lang="en-US" sz="1300" dirty="0"/>
          </a:p>
        </p:txBody>
      </p:sp>
      <p:sp>
        <p:nvSpPr>
          <p:cNvPr id="10" name="Text 8"/>
          <p:cNvSpPr/>
          <p:nvPr/>
        </p:nvSpPr>
        <p:spPr>
          <a:xfrm>
            <a:off x="5911850"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c=5</a:t>
            </a:r>
            <a:endParaRPr lang="en-US" sz="1300" dirty="0"/>
          </a:p>
        </p:txBody>
      </p:sp>
      <p:sp>
        <p:nvSpPr>
          <p:cNvPr id="11" name="Text 9"/>
          <p:cNvSpPr/>
          <p:nvPr/>
        </p:nvSpPr>
        <p:spPr>
          <a:xfrm>
            <a:off x="6702425"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c=6</a:t>
            </a:r>
            <a:endParaRPr lang="en-US" sz="1300" dirty="0"/>
          </a:p>
        </p:txBody>
      </p:sp>
      <p:sp>
        <p:nvSpPr>
          <p:cNvPr id="12" name="Text 10"/>
          <p:cNvSpPr/>
          <p:nvPr/>
        </p:nvSpPr>
        <p:spPr>
          <a:xfrm>
            <a:off x="7493000" y="1694817"/>
            <a:ext cx="784225" cy="4762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F6F3EC"/>
                </a:solidFill>
                <a:latin typeface="JetBrains Mono" pitchFamily="49" charset="0"/>
                <a:ea typeface="JetBrains Mono" pitchFamily="49" charset="-122"/>
                <a:cs typeface="JetBrains Mono" pitchFamily="49" charset="-120"/>
              </a:rPr>
              <a:t>c=7</a:t>
            </a:r>
            <a:endParaRPr lang="en-US" sz="1300" dirty="0"/>
          </a:p>
        </p:txBody>
      </p:sp>
      <p:sp>
        <p:nvSpPr>
          <p:cNvPr id="13" name="Text 11"/>
          <p:cNvSpPr/>
          <p:nvPr/>
        </p:nvSpPr>
        <p:spPr>
          <a:xfrm>
            <a:off x="815975" y="2177417"/>
            <a:ext cx="1136650" cy="4762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960"/>
              </a:lnSpc>
              <a:buNone/>
            </a:pPr>
            <a:r>
              <a:rPr lang="en-US" sz="1400" b="1" dirty="0">
                <a:solidFill>
                  <a:srgbClr val="0F1B2D"/>
                </a:solidFill>
                <a:latin typeface="DM Sans" pitchFamily="34" charset="0"/>
                <a:ea typeface="DM Sans" pitchFamily="34" charset="-122"/>
                <a:cs typeface="DM Sans" pitchFamily="34" charset="-120"/>
              </a:rPr>
              <a:t>none</a:t>
            </a:r>
            <a:endParaRPr lang="en-US" sz="1400" dirty="0"/>
          </a:p>
        </p:txBody>
      </p:sp>
      <p:sp>
        <p:nvSpPr>
          <p:cNvPr id="14" name="Text 12"/>
          <p:cNvSpPr/>
          <p:nvPr/>
        </p:nvSpPr>
        <p:spPr>
          <a:xfrm>
            <a:off x="1958975"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15" name="Text 13"/>
          <p:cNvSpPr/>
          <p:nvPr/>
        </p:nvSpPr>
        <p:spPr>
          <a:xfrm>
            <a:off x="2749550"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16" name="Text 14"/>
          <p:cNvSpPr/>
          <p:nvPr/>
        </p:nvSpPr>
        <p:spPr>
          <a:xfrm>
            <a:off x="3540125"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17" name="Text 15"/>
          <p:cNvSpPr/>
          <p:nvPr/>
        </p:nvSpPr>
        <p:spPr>
          <a:xfrm>
            <a:off x="4330700"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18" name="Text 16"/>
          <p:cNvSpPr/>
          <p:nvPr/>
        </p:nvSpPr>
        <p:spPr>
          <a:xfrm>
            <a:off x="5121275"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19" name="Text 17"/>
          <p:cNvSpPr/>
          <p:nvPr/>
        </p:nvSpPr>
        <p:spPr>
          <a:xfrm>
            <a:off x="5911850"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20" name="Text 18"/>
          <p:cNvSpPr/>
          <p:nvPr/>
        </p:nvSpPr>
        <p:spPr>
          <a:xfrm>
            <a:off x="6702425"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21" name="Text 19"/>
          <p:cNvSpPr/>
          <p:nvPr/>
        </p:nvSpPr>
        <p:spPr>
          <a:xfrm>
            <a:off x="7493000" y="21774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22" name="Text 20"/>
          <p:cNvSpPr/>
          <p:nvPr/>
        </p:nvSpPr>
        <p:spPr>
          <a:xfrm>
            <a:off x="815975" y="2660017"/>
            <a:ext cx="1136650" cy="4762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960"/>
              </a:lnSpc>
              <a:buNone/>
            </a:pPr>
            <a:r>
              <a:rPr lang="en-US" sz="1400" b="1" dirty="0">
                <a:solidFill>
                  <a:srgbClr val="0F1B2D"/>
                </a:solidFill>
                <a:latin typeface="DM Sans" pitchFamily="34" charset="0"/>
                <a:ea typeface="DM Sans" pitchFamily="34" charset="-122"/>
                <a:cs typeface="DM Sans" pitchFamily="34" charset="-120"/>
              </a:rPr>
              <a:t>A</a:t>
            </a:r>
            <a:endParaRPr lang="en-US" sz="1400" dirty="0"/>
          </a:p>
        </p:txBody>
      </p:sp>
      <p:sp>
        <p:nvSpPr>
          <p:cNvPr id="23" name="Text 21"/>
          <p:cNvSpPr/>
          <p:nvPr/>
        </p:nvSpPr>
        <p:spPr>
          <a:xfrm>
            <a:off x="1958975"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24" name="Text 22"/>
          <p:cNvSpPr/>
          <p:nvPr/>
        </p:nvSpPr>
        <p:spPr>
          <a:xfrm>
            <a:off x="2749550"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25" name="Text 23"/>
          <p:cNvSpPr/>
          <p:nvPr/>
        </p:nvSpPr>
        <p:spPr>
          <a:xfrm>
            <a:off x="3540125"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26" name="Text 24"/>
          <p:cNvSpPr/>
          <p:nvPr/>
        </p:nvSpPr>
        <p:spPr>
          <a:xfrm>
            <a:off x="4330700"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27" name="Text 25"/>
          <p:cNvSpPr/>
          <p:nvPr/>
        </p:nvSpPr>
        <p:spPr>
          <a:xfrm>
            <a:off x="5121275"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28" name="Text 26"/>
          <p:cNvSpPr/>
          <p:nvPr/>
        </p:nvSpPr>
        <p:spPr>
          <a:xfrm>
            <a:off x="5911850"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29" name="Text 27"/>
          <p:cNvSpPr/>
          <p:nvPr/>
        </p:nvSpPr>
        <p:spPr>
          <a:xfrm>
            <a:off x="6702425"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30" name="Text 28"/>
          <p:cNvSpPr/>
          <p:nvPr/>
        </p:nvSpPr>
        <p:spPr>
          <a:xfrm>
            <a:off x="7493000" y="26600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31" name="Text 29"/>
          <p:cNvSpPr/>
          <p:nvPr/>
        </p:nvSpPr>
        <p:spPr>
          <a:xfrm>
            <a:off x="815975" y="3142617"/>
            <a:ext cx="1136650" cy="4762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960"/>
              </a:lnSpc>
              <a:buNone/>
            </a:pPr>
            <a:r>
              <a:rPr lang="en-US" sz="1400" b="1" dirty="0">
                <a:solidFill>
                  <a:srgbClr val="0F1B2D"/>
                </a:solidFill>
                <a:latin typeface="DM Sans" pitchFamily="34" charset="0"/>
                <a:ea typeface="DM Sans" pitchFamily="34" charset="-122"/>
                <a:cs typeface="DM Sans" pitchFamily="34" charset="-120"/>
              </a:rPr>
              <a:t>A–B</a:t>
            </a:r>
            <a:endParaRPr lang="en-US" sz="1400" dirty="0"/>
          </a:p>
        </p:txBody>
      </p:sp>
      <p:sp>
        <p:nvSpPr>
          <p:cNvPr id="32" name="Text 30"/>
          <p:cNvSpPr/>
          <p:nvPr/>
        </p:nvSpPr>
        <p:spPr>
          <a:xfrm>
            <a:off x="1958975"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33" name="Text 31"/>
          <p:cNvSpPr/>
          <p:nvPr/>
        </p:nvSpPr>
        <p:spPr>
          <a:xfrm>
            <a:off x="2749550"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34" name="Text 32"/>
          <p:cNvSpPr/>
          <p:nvPr/>
        </p:nvSpPr>
        <p:spPr>
          <a:xfrm>
            <a:off x="3540125"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35" name="Text 33"/>
          <p:cNvSpPr/>
          <p:nvPr/>
        </p:nvSpPr>
        <p:spPr>
          <a:xfrm>
            <a:off x="4330700"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4</a:t>
            </a:r>
            <a:endParaRPr lang="en-US" sz="1600" dirty="0"/>
          </a:p>
        </p:txBody>
      </p:sp>
      <p:sp>
        <p:nvSpPr>
          <p:cNvPr id="36" name="Text 34"/>
          <p:cNvSpPr/>
          <p:nvPr/>
        </p:nvSpPr>
        <p:spPr>
          <a:xfrm>
            <a:off x="5121275"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37" name="Text 35"/>
          <p:cNvSpPr/>
          <p:nvPr/>
        </p:nvSpPr>
        <p:spPr>
          <a:xfrm>
            <a:off x="5911850"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38" name="Text 36"/>
          <p:cNvSpPr/>
          <p:nvPr/>
        </p:nvSpPr>
        <p:spPr>
          <a:xfrm>
            <a:off x="6702425"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39" name="Text 37"/>
          <p:cNvSpPr/>
          <p:nvPr/>
        </p:nvSpPr>
        <p:spPr>
          <a:xfrm>
            <a:off x="7493000" y="31426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40" name="Text 38"/>
          <p:cNvSpPr/>
          <p:nvPr/>
        </p:nvSpPr>
        <p:spPr>
          <a:xfrm>
            <a:off x="815975" y="3625217"/>
            <a:ext cx="1136650" cy="4762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960"/>
              </a:lnSpc>
              <a:buNone/>
            </a:pPr>
            <a:r>
              <a:rPr lang="en-US" sz="1400" b="1" dirty="0">
                <a:solidFill>
                  <a:srgbClr val="0F1B2D"/>
                </a:solidFill>
                <a:latin typeface="DM Sans" pitchFamily="34" charset="0"/>
                <a:ea typeface="DM Sans" pitchFamily="34" charset="-122"/>
                <a:cs typeface="DM Sans" pitchFamily="34" charset="-120"/>
              </a:rPr>
              <a:t>A–C</a:t>
            </a:r>
            <a:endParaRPr lang="en-US" sz="1400" dirty="0"/>
          </a:p>
        </p:txBody>
      </p:sp>
      <p:sp>
        <p:nvSpPr>
          <p:cNvPr id="41" name="Text 39"/>
          <p:cNvSpPr/>
          <p:nvPr/>
        </p:nvSpPr>
        <p:spPr>
          <a:xfrm>
            <a:off x="1958975"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42" name="Text 40"/>
          <p:cNvSpPr/>
          <p:nvPr/>
        </p:nvSpPr>
        <p:spPr>
          <a:xfrm>
            <a:off x="2749550"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43" name="Text 41"/>
          <p:cNvSpPr/>
          <p:nvPr/>
        </p:nvSpPr>
        <p:spPr>
          <a:xfrm>
            <a:off x="3540125"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44" name="Text 42"/>
          <p:cNvSpPr/>
          <p:nvPr/>
        </p:nvSpPr>
        <p:spPr>
          <a:xfrm>
            <a:off x="4330700"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4</a:t>
            </a:r>
            <a:endParaRPr lang="en-US" sz="1600" dirty="0"/>
          </a:p>
        </p:txBody>
      </p:sp>
      <p:sp>
        <p:nvSpPr>
          <p:cNvPr id="45" name="Text 43"/>
          <p:cNvSpPr/>
          <p:nvPr/>
        </p:nvSpPr>
        <p:spPr>
          <a:xfrm>
            <a:off x="5121275"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46" name="Text 44"/>
          <p:cNvSpPr/>
          <p:nvPr/>
        </p:nvSpPr>
        <p:spPr>
          <a:xfrm>
            <a:off x="5911850"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6</a:t>
            </a:r>
            <a:endParaRPr lang="en-US" sz="1600" dirty="0"/>
          </a:p>
        </p:txBody>
      </p:sp>
      <p:sp>
        <p:nvSpPr>
          <p:cNvPr id="47" name="Text 45"/>
          <p:cNvSpPr/>
          <p:nvPr/>
        </p:nvSpPr>
        <p:spPr>
          <a:xfrm>
            <a:off x="6702425"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6</a:t>
            </a:r>
            <a:endParaRPr lang="en-US" sz="1600" dirty="0"/>
          </a:p>
        </p:txBody>
      </p:sp>
      <p:sp>
        <p:nvSpPr>
          <p:cNvPr id="48" name="Text 46"/>
          <p:cNvSpPr/>
          <p:nvPr/>
        </p:nvSpPr>
        <p:spPr>
          <a:xfrm>
            <a:off x="7493000" y="36252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9</a:t>
            </a:r>
            <a:endParaRPr lang="en-US" sz="1600" dirty="0"/>
          </a:p>
        </p:txBody>
      </p:sp>
      <p:sp>
        <p:nvSpPr>
          <p:cNvPr id="49" name="Text 47"/>
          <p:cNvSpPr/>
          <p:nvPr/>
        </p:nvSpPr>
        <p:spPr>
          <a:xfrm>
            <a:off x="815975" y="4107817"/>
            <a:ext cx="1136650" cy="4762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960"/>
              </a:lnSpc>
              <a:buNone/>
            </a:pPr>
            <a:r>
              <a:rPr lang="en-US" sz="1400" b="1" dirty="0">
                <a:solidFill>
                  <a:srgbClr val="0F1B2D"/>
                </a:solidFill>
                <a:latin typeface="DM Sans" pitchFamily="34" charset="0"/>
                <a:ea typeface="DM Sans" pitchFamily="34" charset="-122"/>
                <a:cs typeface="DM Sans" pitchFamily="34" charset="-120"/>
              </a:rPr>
              <a:t>A–D</a:t>
            </a:r>
            <a:endParaRPr lang="en-US" sz="1400" dirty="0"/>
          </a:p>
        </p:txBody>
      </p:sp>
      <p:sp>
        <p:nvSpPr>
          <p:cNvPr id="50" name="Text 48"/>
          <p:cNvSpPr/>
          <p:nvPr/>
        </p:nvSpPr>
        <p:spPr>
          <a:xfrm>
            <a:off x="1958975"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dirty="0">
                <a:solidFill>
                  <a:srgbClr val="4A5568"/>
                </a:solidFill>
                <a:latin typeface="JetBrains Mono" pitchFamily="49" charset="0"/>
                <a:ea typeface="JetBrains Mono" pitchFamily="49" charset="-122"/>
                <a:cs typeface="JetBrains Mono" pitchFamily="49" charset="-120"/>
              </a:rPr>
              <a:t>0</a:t>
            </a:r>
            <a:endParaRPr lang="en-US" sz="1600" dirty="0"/>
          </a:p>
        </p:txBody>
      </p:sp>
      <p:sp>
        <p:nvSpPr>
          <p:cNvPr id="51" name="Text 49"/>
          <p:cNvSpPr/>
          <p:nvPr/>
        </p:nvSpPr>
        <p:spPr>
          <a:xfrm>
            <a:off x="2749550"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52" name="Text 50"/>
          <p:cNvSpPr/>
          <p:nvPr/>
        </p:nvSpPr>
        <p:spPr>
          <a:xfrm>
            <a:off x="3540125"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1</a:t>
            </a:r>
            <a:endParaRPr lang="en-US" sz="1600" dirty="0"/>
          </a:p>
        </p:txBody>
      </p:sp>
      <p:sp>
        <p:nvSpPr>
          <p:cNvPr id="53" name="Text 51"/>
          <p:cNvSpPr/>
          <p:nvPr/>
        </p:nvSpPr>
        <p:spPr>
          <a:xfrm>
            <a:off x="4330700"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4</a:t>
            </a:r>
            <a:endParaRPr lang="en-US" sz="1600" dirty="0"/>
          </a:p>
        </p:txBody>
      </p:sp>
      <p:sp>
        <p:nvSpPr>
          <p:cNvPr id="54" name="Text 52"/>
          <p:cNvSpPr/>
          <p:nvPr/>
        </p:nvSpPr>
        <p:spPr>
          <a:xfrm>
            <a:off x="5121275"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5</a:t>
            </a:r>
            <a:endParaRPr lang="en-US" sz="1600" dirty="0"/>
          </a:p>
        </p:txBody>
      </p:sp>
      <p:sp>
        <p:nvSpPr>
          <p:cNvPr id="55" name="Text 53"/>
          <p:cNvSpPr/>
          <p:nvPr/>
        </p:nvSpPr>
        <p:spPr>
          <a:xfrm>
            <a:off x="5911850"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7</a:t>
            </a:r>
            <a:endParaRPr lang="en-US" sz="1600" dirty="0"/>
          </a:p>
        </p:txBody>
      </p:sp>
      <p:sp>
        <p:nvSpPr>
          <p:cNvPr id="56" name="Text 54"/>
          <p:cNvSpPr/>
          <p:nvPr/>
        </p:nvSpPr>
        <p:spPr>
          <a:xfrm>
            <a:off x="6702425" y="4107817"/>
            <a:ext cx="784225" cy="4762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8</a:t>
            </a:r>
            <a:endParaRPr lang="en-US" sz="1600" dirty="0"/>
          </a:p>
        </p:txBody>
      </p:sp>
      <p:sp>
        <p:nvSpPr>
          <p:cNvPr id="57" name="Text 55"/>
          <p:cNvSpPr/>
          <p:nvPr/>
        </p:nvSpPr>
        <p:spPr>
          <a:xfrm>
            <a:off x="7496175" y="4110992"/>
            <a:ext cx="777875" cy="469900"/>
          </a:xfrm>
          <a:prstGeom prst="rect">
            <a:avLst/>
          </a:prstGeom>
          <a:solidFill>
            <a:srgbClr val="F2B134"/>
          </a:solidFill>
          <a:ln w="12700">
            <a:solidFill>
              <a:srgbClr val="0F1B2D"/>
            </a:solidFill>
            <a:prstDash val="solid"/>
          </a:ln>
        </p:spPr>
        <p:txBody>
          <a:bodyPr wrap="square" lIns="3810" tIns="3810" rIns="3810" bIns="3810" rtlCol="0" anchor="ctr">
            <a:normAutofit/>
          </a:bodyPr>
          <a:lstStyle/>
          <a:p>
            <a:pPr marL="0" indent="0" algn="ctr">
              <a:lnSpc>
                <a:spcPts val="2240"/>
              </a:lnSpc>
              <a:buNone/>
            </a:pPr>
            <a:r>
              <a:rPr lang="en-US" sz="1600" b="1" dirty="0">
                <a:solidFill>
                  <a:srgbClr val="0F1B2D"/>
                </a:solidFill>
                <a:latin typeface="JetBrains Mono" pitchFamily="49" charset="0"/>
                <a:ea typeface="JetBrains Mono" pitchFamily="49" charset="-122"/>
                <a:cs typeface="JetBrains Mono" pitchFamily="49" charset="-120"/>
              </a:rPr>
              <a:t>9</a:t>
            </a:r>
            <a:endParaRPr lang="en-US" sz="1600" dirty="0"/>
          </a:p>
        </p:txBody>
      </p:sp>
      <p:sp>
        <p:nvSpPr>
          <p:cNvPr id="58" name="Text 56"/>
          <p:cNvSpPr/>
          <p:nvPr/>
        </p:nvSpPr>
        <p:spPr>
          <a:xfrm>
            <a:off x="8585200" y="1691642"/>
            <a:ext cx="287782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7A75"/>
                </a:solidFill>
                <a:latin typeface="DM Sans" pitchFamily="34" charset="0"/>
                <a:ea typeface="DM Sans" pitchFamily="34" charset="-122"/>
                <a:cs typeface="DM Sans" pitchFamily="34" charset="-120"/>
              </a:rPr>
              <a:t>How to read it</a:t>
            </a:r>
            <a:endParaRPr lang="en-US" sz="1400" dirty="0"/>
          </a:p>
        </p:txBody>
      </p:sp>
      <p:sp>
        <p:nvSpPr>
          <p:cNvPr id="59" name="Text 57"/>
          <p:cNvSpPr/>
          <p:nvPr/>
        </p:nvSpPr>
        <p:spPr>
          <a:xfrm>
            <a:off x="8669782" y="2067564"/>
            <a:ext cx="2785618" cy="2265680"/>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0F1B2D"/>
                </a:solidFill>
                <a:latin typeface="DM Sans" pitchFamily="34" charset="0"/>
                <a:ea typeface="DM Sans" pitchFamily="34" charset="-122"/>
                <a:cs typeface="DM Sans" pitchFamily="34" charset="-120"/>
              </a:rPr>
              <a:t>Each cell is the best value for the listed items at that capacity.</a:t>
            </a:r>
            <a:endParaRPr lang="en-US" sz="1400" dirty="0"/>
          </a:p>
          <a:p>
            <a:pPr marL="169418" indent="-169418" algn="l">
              <a:lnSpc>
                <a:spcPts val="1960"/>
              </a:lnSpc>
              <a:buSzPct val="100000"/>
              <a:buChar char="•"/>
            </a:pPr>
            <a:r>
              <a:rPr lang="en-US" sz="1400" dirty="0">
                <a:solidFill>
                  <a:srgbClr val="0F1B2D"/>
                </a:solidFill>
                <a:latin typeface="DM Sans" pitchFamily="34" charset="0"/>
                <a:ea typeface="DM Sans" pitchFamily="34" charset="-122"/>
                <a:cs typeface="DM Sans" pitchFamily="34" charset="-120"/>
              </a:rPr>
              <a:t>“A–C” means items A, B and C are available.</a:t>
            </a:r>
            <a:endParaRPr lang="en-US" sz="1400" dirty="0"/>
          </a:p>
          <a:p>
            <a:pPr marL="169418" indent="-169418" algn="l">
              <a:lnSpc>
                <a:spcPts val="1960"/>
              </a:lnSpc>
              <a:buSzPct val="100000"/>
              <a:buChar char="•"/>
            </a:pPr>
            <a:r>
              <a:rPr lang="en-US" sz="1400" dirty="0">
                <a:solidFill>
                  <a:srgbClr val="0F1B2D"/>
                </a:solidFill>
                <a:latin typeface="DM Sans" pitchFamily="34" charset="0"/>
                <a:ea typeface="DM Sans" pitchFamily="34" charset="-122"/>
                <a:cs typeface="DM Sans" pitchFamily="34" charset="-120"/>
              </a:rPr>
              <a:t>Values never shrink as capacity grows.</a:t>
            </a:r>
            <a:endParaRPr lang="en-US" sz="1400" dirty="0"/>
          </a:p>
          <a:p>
            <a:pPr marL="169418" indent="-169418" algn="l">
              <a:lnSpc>
                <a:spcPts val="1960"/>
              </a:lnSpc>
              <a:buSzPct val="100000"/>
              <a:buChar char="•"/>
            </a:pPr>
            <a:r>
              <a:rPr lang="en-US" sz="1400" dirty="0">
                <a:solidFill>
                  <a:srgbClr val="0F1B2D"/>
                </a:solidFill>
                <a:latin typeface="DM Sans" pitchFamily="34" charset="0"/>
                <a:ea typeface="DM Sans" pitchFamily="34" charset="-122"/>
                <a:cs typeface="DM Sans" pitchFamily="34" charset="-120"/>
              </a:rPr>
              <a:t>The bottom-right cell is the answer: 9 pts.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One cell, step by step</a:t>
            </a:r>
            <a:endParaRPr lang="en-US" sz="3000" dirty="0"/>
          </a:p>
        </p:txBody>
      </p:sp>
      <p:sp>
        <p:nvSpPr>
          <p:cNvPr id="4" name="Shape 2"/>
          <p:cNvSpPr/>
          <p:nvPr/>
        </p:nvSpPr>
        <p:spPr>
          <a:xfrm>
            <a:off x="819150" y="1697992"/>
            <a:ext cx="5118100" cy="2664460"/>
          </a:xfrm>
          <a:prstGeom prst="roundRect">
            <a:avLst>
              <a:gd name="adj" fmla="val 5481"/>
            </a:avLst>
          </a:prstGeom>
          <a:solidFill>
            <a:srgbClr val="FFFDF8"/>
          </a:solidFill>
          <a:ln w="12700">
            <a:solidFill>
              <a:srgbClr val="DDD6C8"/>
            </a:solidFill>
            <a:prstDash val="solid"/>
          </a:ln>
        </p:spPr>
      </p:sp>
      <p:sp>
        <p:nvSpPr>
          <p:cNvPr id="5" name="Text 3"/>
          <p:cNvSpPr/>
          <p:nvPr/>
        </p:nvSpPr>
        <p:spPr>
          <a:xfrm>
            <a:off x="1051560" y="1930400"/>
            <a:ext cx="4792878"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7A75"/>
                </a:solidFill>
                <a:latin typeface="JetBrains Mono" pitchFamily="49" charset="0"/>
                <a:ea typeface="JetBrains Mono" pitchFamily="49" charset="-122"/>
                <a:cs typeface="JetBrains Mono" pitchFamily="49" charset="-120"/>
              </a:rPr>
              <a:t>dp[3][7]</a:t>
            </a:r>
            <a:endParaRPr lang="en-US" sz="2200" dirty="0"/>
          </a:p>
        </p:txBody>
      </p:sp>
      <p:sp>
        <p:nvSpPr>
          <p:cNvPr id="6" name="Text 4"/>
          <p:cNvSpPr/>
          <p:nvPr/>
        </p:nvSpPr>
        <p:spPr>
          <a:xfrm>
            <a:off x="1051560" y="2448564"/>
            <a:ext cx="479287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Item C (4 kg, 5 pts), capacity 7</a:t>
            </a:r>
            <a:endParaRPr lang="en-US" sz="1400" dirty="0"/>
          </a:p>
        </p:txBody>
      </p:sp>
      <p:sp>
        <p:nvSpPr>
          <p:cNvPr id="7" name="Text 5"/>
          <p:cNvSpPr/>
          <p:nvPr/>
        </p:nvSpPr>
        <p:spPr>
          <a:xfrm>
            <a:off x="1051560" y="2833371"/>
            <a:ext cx="749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D"/>
                </a:solidFill>
                <a:latin typeface="DM Sans" pitchFamily="34" charset="0"/>
                <a:ea typeface="DM Sans" pitchFamily="34" charset="-122"/>
                <a:cs typeface="DM Sans" pitchFamily="34" charset="-120"/>
              </a:rPr>
              <a:t>Skip</a:t>
            </a:r>
            <a:endParaRPr lang="en-US" sz="1400" dirty="0"/>
          </a:p>
        </p:txBody>
      </p:sp>
      <p:sp>
        <p:nvSpPr>
          <p:cNvPr id="8" name="Text 6"/>
          <p:cNvSpPr/>
          <p:nvPr/>
        </p:nvSpPr>
        <p:spPr>
          <a:xfrm>
            <a:off x="1902460" y="2824479"/>
            <a:ext cx="164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D"/>
                </a:solidFill>
                <a:latin typeface="JetBrains Mono" pitchFamily="49" charset="0"/>
                <a:ea typeface="JetBrains Mono" pitchFamily="49" charset="-122"/>
                <a:cs typeface="JetBrains Mono" pitchFamily="49" charset="-120"/>
              </a:rPr>
              <a:t>dp[2][7] = 5</a:t>
            </a:r>
            <a:endParaRPr lang="en-US" sz="1500" dirty="0"/>
          </a:p>
        </p:txBody>
      </p:sp>
      <p:sp>
        <p:nvSpPr>
          <p:cNvPr id="9" name="Text 7"/>
          <p:cNvSpPr/>
          <p:nvPr/>
        </p:nvSpPr>
        <p:spPr>
          <a:xfrm>
            <a:off x="1051560" y="3227071"/>
            <a:ext cx="749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D"/>
                </a:solidFill>
                <a:latin typeface="DM Sans" pitchFamily="34" charset="0"/>
                <a:ea typeface="DM Sans" pitchFamily="34" charset="-122"/>
                <a:cs typeface="DM Sans" pitchFamily="34" charset="-120"/>
              </a:rPr>
              <a:t>Take</a:t>
            </a:r>
            <a:endParaRPr lang="en-US" sz="1400" dirty="0"/>
          </a:p>
        </p:txBody>
      </p:sp>
      <p:sp>
        <p:nvSpPr>
          <p:cNvPr id="10" name="Text 8"/>
          <p:cNvSpPr/>
          <p:nvPr/>
        </p:nvSpPr>
        <p:spPr>
          <a:xfrm>
            <a:off x="1902460" y="3218179"/>
            <a:ext cx="32918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D"/>
                </a:solidFill>
                <a:latin typeface="JetBrains Mono" pitchFamily="49" charset="0"/>
                <a:ea typeface="JetBrains Mono" pitchFamily="49" charset="-122"/>
                <a:cs typeface="JetBrains Mono" pitchFamily="49" charset="-120"/>
              </a:rPr>
              <a:t>5 + dp[2][3] = 5 + 4 = 9</a:t>
            </a:r>
            <a:endParaRPr lang="en-US" sz="1500" dirty="0"/>
          </a:p>
        </p:txBody>
      </p:sp>
      <p:sp>
        <p:nvSpPr>
          <p:cNvPr id="11" name="Text 9"/>
          <p:cNvSpPr/>
          <p:nvPr/>
        </p:nvSpPr>
        <p:spPr>
          <a:xfrm>
            <a:off x="1051560" y="3611879"/>
            <a:ext cx="4653280" cy="518160"/>
          </a:xfrm>
          <a:prstGeom prst="roundRect">
            <a:avLst>
              <a:gd name="adj" fmla="val 17157"/>
            </a:avLst>
          </a:prstGeom>
          <a:solidFill>
            <a:srgbClr val="D7EDEA"/>
          </a:solidFill>
          <a:ln/>
        </p:spPr>
        <p:txBody>
          <a:bodyPr wrap="square" lIns="126362" tIns="100962" rIns="0" bIns="75562" rtlCol="0" anchor="t">
            <a:normAutofit/>
          </a:bodyPr>
          <a:lstStyle/>
          <a:p>
            <a:pPr marL="0" indent="0" algn="l">
              <a:lnSpc>
                <a:spcPts val="2080"/>
              </a:lnSpc>
              <a:buNone/>
            </a:pPr>
            <a:r>
              <a:rPr lang="en-US" sz="1600" b="1" dirty="0">
                <a:solidFill>
                  <a:srgbClr val="0F1B2D"/>
                </a:solidFill>
                <a:latin typeface="DM Sans" pitchFamily="34" charset="0"/>
                <a:ea typeface="DM Sans" pitchFamily="34" charset="-122"/>
                <a:cs typeface="DM Sans" pitchFamily="34" charset="-120"/>
              </a:rPr>
              <a:t>max(5, 9) = 9, so take C</a:t>
            </a:r>
            <a:endParaRPr lang="en-US" sz="1600" dirty="0"/>
          </a:p>
        </p:txBody>
      </p:sp>
      <p:sp>
        <p:nvSpPr>
          <p:cNvPr id="12" name="Shape 10"/>
          <p:cNvSpPr/>
          <p:nvPr/>
        </p:nvSpPr>
        <p:spPr>
          <a:xfrm>
            <a:off x="6254750" y="1697992"/>
            <a:ext cx="5118100" cy="2664460"/>
          </a:xfrm>
          <a:prstGeom prst="roundRect">
            <a:avLst>
              <a:gd name="adj" fmla="val 5481"/>
            </a:avLst>
          </a:prstGeom>
          <a:solidFill>
            <a:srgbClr val="FFFDF8"/>
          </a:solidFill>
          <a:ln w="12700">
            <a:solidFill>
              <a:srgbClr val="DDD6C8"/>
            </a:solidFill>
            <a:prstDash val="solid"/>
          </a:ln>
        </p:spPr>
      </p:sp>
      <p:sp>
        <p:nvSpPr>
          <p:cNvPr id="13" name="Text 11"/>
          <p:cNvSpPr/>
          <p:nvPr/>
        </p:nvSpPr>
        <p:spPr>
          <a:xfrm>
            <a:off x="6487160" y="1930400"/>
            <a:ext cx="4792878"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B7A75"/>
                </a:solidFill>
                <a:latin typeface="JetBrains Mono" pitchFamily="49" charset="0"/>
                <a:ea typeface="JetBrains Mono" pitchFamily="49" charset="-122"/>
                <a:cs typeface="JetBrains Mono" pitchFamily="49" charset="-120"/>
              </a:rPr>
              <a:t>dp[4][7]</a:t>
            </a:r>
            <a:endParaRPr lang="en-US" sz="2200" dirty="0"/>
          </a:p>
        </p:txBody>
      </p:sp>
      <p:sp>
        <p:nvSpPr>
          <p:cNvPr id="14" name="Text 12"/>
          <p:cNvSpPr/>
          <p:nvPr/>
        </p:nvSpPr>
        <p:spPr>
          <a:xfrm>
            <a:off x="6487160" y="2448564"/>
            <a:ext cx="479287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Item D (5 kg, 7 pts), capacity 7</a:t>
            </a:r>
            <a:endParaRPr lang="en-US" sz="1400" dirty="0"/>
          </a:p>
        </p:txBody>
      </p:sp>
      <p:sp>
        <p:nvSpPr>
          <p:cNvPr id="15" name="Text 13"/>
          <p:cNvSpPr/>
          <p:nvPr/>
        </p:nvSpPr>
        <p:spPr>
          <a:xfrm>
            <a:off x="6487160" y="2833371"/>
            <a:ext cx="749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D"/>
                </a:solidFill>
                <a:latin typeface="DM Sans" pitchFamily="34" charset="0"/>
                <a:ea typeface="DM Sans" pitchFamily="34" charset="-122"/>
                <a:cs typeface="DM Sans" pitchFamily="34" charset="-120"/>
              </a:rPr>
              <a:t>Skip</a:t>
            </a:r>
            <a:endParaRPr lang="en-US" sz="1400" dirty="0"/>
          </a:p>
        </p:txBody>
      </p:sp>
      <p:sp>
        <p:nvSpPr>
          <p:cNvPr id="16" name="Text 14"/>
          <p:cNvSpPr/>
          <p:nvPr/>
        </p:nvSpPr>
        <p:spPr>
          <a:xfrm>
            <a:off x="7338060" y="2824479"/>
            <a:ext cx="164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D"/>
                </a:solidFill>
                <a:latin typeface="JetBrains Mono" pitchFamily="49" charset="0"/>
                <a:ea typeface="JetBrains Mono" pitchFamily="49" charset="-122"/>
                <a:cs typeface="JetBrains Mono" pitchFamily="49" charset="-120"/>
              </a:rPr>
              <a:t>dp[3][7] = 9</a:t>
            </a:r>
            <a:endParaRPr lang="en-US" sz="1500" dirty="0"/>
          </a:p>
        </p:txBody>
      </p:sp>
      <p:sp>
        <p:nvSpPr>
          <p:cNvPr id="17" name="Text 15"/>
          <p:cNvSpPr/>
          <p:nvPr/>
        </p:nvSpPr>
        <p:spPr>
          <a:xfrm>
            <a:off x="6487160" y="3227071"/>
            <a:ext cx="749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D"/>
                </a:solidFill>
                <a:latin typeface="DM Sans" pitchFamily="34" charset="0"/>
                <a:ea typeface="DM Sans" pitchFamily="34" charset="-122"/>
                <a:cs typeface="DM Sans" pitchFamily="34" charset="-120"/>
              </a:rPr>
              <a:t>Take</a:t>
            </a:r>
            <a:endParaRPr lang="en-US" sz="1400" dirty="0"/>
          </a:p>
        </p:txBody>
      </p:sp>
      <p:sp>
        <p:nvSpPr>
          <p:cNvPr id="18" name="Text 16"/>
          <p:cNvSpPr/>
          <p:nvPr/>
        </p:nvSpPr>
        <p:spPr>
          <a:xfrm>
            <a:off x="7338060" y="3218179"/>
            <a:ext cx="32918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F1B2D"/>
                </a:solidFill>
                <a:latin typeface="JetBrains Mono" pitchFamily="49" charset="0"/>
                <a:ea typeface="JetBrains Mono" pitchFamily="49" charset="-122"/>
                <a:cs typeface="JetBrains Mono" pitchFamily="49" charset="-120"/>
              </a:rPr>
              <a:t>7 + dp[3][2] = 7 + 1 = 8</a:t>
            </a:r>
            <a:endParaRPr lang="en-US" sz="1500" dirty="0"/>
          </a:p>
        </p:txBody>
      </p:sp>
      <p:sp>
        <p:nvSpPr>
          <p:cNvPr id="19" name="Text 17"/>
          <p:cNvSpPr/>
          <p:nvPr/>
        </p:nvSpPr>
        <p:spPr>
          <a:xfrm>
            <a:off x="6487160" y="3611879"/>
            <a:ext cx="4653280" cy="518160"/>
          </a:xfrm>
          <a:prstGeom prst="roundRect">
            <a:avLst>
              <a:gd name="adj" fmla="val 17157"/>
            </a:avLst>
          </a:prstGeom>
          <a:solidFill>
            <a:srgbClr val="D7EDEA"/>
          </a:solidFill>
          <a:ln/>
        </p:spPr>
        <p:txBody>
          <a:bodyPr wrap="square" lIns="126362" tIns="100962" rIns="0" bIns="75562" rtlCol="0" anchor="t">
            <a:normAutofit/>
          </a:bodyPr>
          <a:lstStyle/>
          <a:p>
            <a:pPr marL="0" indent="0" algn="l">
              <a:lnSpc>
                <a:spcPts val="2080"/>
              </a:lnSpc>
              <a:buNone/>
            </a:pPr>
            <a:r>
              <a:rPr lang="en-US" sz="1600" b="1" dirty="0">
                <a:solidFill>
                  <a:srgbClr val="0F1B2D"/>
                </a:solidFill>
                <a:latin typeface="DM Sans" pitchFamily="34" charset="0"/>
                <a:ea typeface="DM Sans" pitchFamily="34" charset="-122"/>
                <a:cs typeface="DM Sans" pitchFamily="34" charset="-120"/>
              </a:rPr>
              <a:t>max(9, 8) = 9, so skip D</a:t>
            </a:r>
            <a:endParaRPr lang="en-US" sz="1600" dirty="0"/>
          </a:p>
        </p:txBody>
      </p:sp>
      <p:sp>
        <p:nvSpPr>
          <p:cNvPr id="20" name="Text 18"/>
          <p:cNvSpPr/>
          <p:nvPr/>
        </p:nvSpPr>
        <p:spPr>
          <a:xfrm>
            <a:off x="812800" y="4622800"/>
            <a:ext cx="10566400" cy="629920"/>
          </a:xfrm>
          <a:prstGeom prst="roundRect">
            <a:avLst>
              <a:gd name="adj" fmla="val 18145"/>
            </a:avLst>
          </a:prstGeom>
          <a:solidFill>
            <a:srgbClr val="0F1B2D"/>
          </a:solidFill>
          <a:ln/>
        </p:spPr>
        <p:txBody>
          <a:bodyPr wrap="square" lIns="220523" tIns="144323" rIns="0" bIns="118923" rtlCol="0" anchor="t">
            <a:normAutofit/>
          </a:bodyPr>
          <a:lstStyle/>
          <a:p>
            <a:pPr marL="0" indent="0" algn="l">
              <a:lnSpc>
                <a:spcPts val="2160"/>
              </a:lnSpc>
              <a:buNone/>
            </a:pPr>
            <a:r>
              <a:rPr lang="en-US" sz="1600" dirty="0">
                <a:solidFill>
                  <a:srgbClr val="F6F3EC"/>
                </a:solidFill>
                <a:latin typeface="DM Sans" pitchFamily="34" charset="0"/>
                <a:ea typeface="DM Sans" pitchFamily="34" charset="-122"/>
                <a:cs typeface="DM Sans" pitchFamily="34" charset="-120"/>
              </a:rPr>
              <a:t>Every cell needs only two lookups in the row above, so filling the table is fast.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Tracing back the answer</a:t>
            </a:r>
            <a:endParaRPr lang="en-US" sz="3000" dirty="0"/>
          </a:p>
        </p:txBody>
      </p:sp>
      <p:sp>
        <p:nvSpPr>
          <p:cNvPr id="4" name="Text 2"/>
          <p:cNvSpPr/>
          <p:nvPr/>
        </p:nvSpPr>
        <p:spPr>
          <a:xfrm>
            <a:off x="815975" y="1694817"/>
            <a:ext cx="946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DM Sans" pitchFamily="34" charset="0"/>
                <a:ea typeface="DM Sans" pitchFamily="34" charset="-122"/>
                <a:cs typeface="DM Sans" pitchFamily="34" charset="-120"/>
              </a:rPr>
              <a:t>items</a:t>
            </a:r>
            <a:endParaRPr lang="en-US" sz="1200" dirty="0"/>
          </a:p>
        </p:txBody>
      </p:sp>
      <p:sp>
        <p:nvSpPr>
          <p:cNvPr id="5" name="Text 3"/>
          <p:cNvSpPr/>
          <p:nvPr/>
        </p:nvSpPr>
        <p:spPr>
          <a:xfrm>
            <a:off x="17684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c=0</a:t>
            </a:r>
            <a:endParaRPr lang="en-US" sz="1200" dirty="0"/>
          </a:p>
        </p:txBody>
      </p:sp>
      <p:sp>
        <p:nvSpPr>
          <p:cNvPr id="6" name="Text 4"/>
          <p:cNvSpPr/>
          <p:nvPr/>
        </p:nvSpPr>
        <p:spPr>
          <a:xfrm>
            <a:off x="23399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c=1</a:t>
            </a:r>
            <a:endParaRPr lang="en-US" sz="1200" dirty="0"/>
          </a:p>
        </p:txBody>
      </p:sp>
      <p:sp>
        <p:nvSpPr>
          <p:cNvPr id="7" name="Text 5"/>
          <p:cNvSpPr/>
          <p:nvPr/>
        </p:nvSpPr>
        <p:spPr>
          <a:xfrm>
            <a:off x="29114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c=2</a:t>
            </a:r>
            <a:endParaRPr lang="en-US" sz="1200" dirty="0"/>
          </a:p>
        </p:txBody>
      </p:sp>
      <p:sp>
        <p:nvSpPr>
          <p:cNvPr id="8" name="Text 6"/>
          <p:cNvSpPr/>
          <p:nvPr/>
        </p:nvSpPr>
        <p:spPr>
          <a:xfrm>
            <a:off x="34829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c=3</a:t>
            </a:r>
            <a:endParaRPr lang="en-US" sz="1200" dirty="0"/>
          </a:p>
        </p:txBody>
      </p:sp>
      <p:sp>
        <p:nvSpPr>
          <p:cNvPr id="9" name="Text 7"/>
          <p:cNvSpPr/>
          <p:nvPr/>
        </p:nvSpPr>
        <p:spPr>
          <a:xfrm>
            <a:off x="40544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c=4</a:t>
            </a:r>
            <a:endParaRPr lang="en-US" sz="1200" dirty="0"/>
          </a:p>
        </p:txBody>
      </p:sp>
      <p:sp>
        <p:nvSpPr>
          <p:cNvPr id="10" name="Text 8"/>
          <p:cNvSpPr/>
          <p:nvPr/>
        </p:nvSpPr>
        <p:spPr>
          <a:xfrm>
            <a:off x="46259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c=5</a:t>
            </a:r>
            <a:endParaRPr lang="en-US" sz="1200" dirty="0"/>
          </a:p>
        </p:txBody>
      </p:sp>
      <p:sp>
        <p:nvSpPr>
          <p:cNvPr id="11" name="Text 9"/>
          <p:cNvSpPr/>
          <p:nvPr/>
        </p:nvSpPr>
        <p:spPr>
          <a:xfrm>
            <a:off x="51974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c=6</a:t>
            </a:r>
            <a:endParaRPr lang="en-US" sz="1200" dirty="0"/>
          </a:p>
        </p:txBody>
      </p:sp>
      <p:sp>
        <p:nvSpPr>
          <p:cNvPr id="12" name="Text 10"/>
          <p:cNvSpPr/>
          <p:nvPr/>
        </p:nvSpPr>
        <p:spPr>
          <a:xfrm>
            <a:off x="5768975" y="1694817"/>
            <a:ext cx="565150" cy="425450"/>
          </a:xfrm>
          <a:prstGeom prst="rect">
            <a:avLst/>
          </a:prstGeom>
          <a:solidFill>
            <a:srgbClr val="0F1B2D"/>
          </a:solidFill>
          <a:ln w="6350">
            <a:solidFill>
              <a:srgbClr val="0F1B2D"/>
            </a:solidFill>
            <a:prstDash val="solid"/>
          </a:ln>
        </p:spPr>
        <p:txBody>
          <a:bodyPr wrap="square" lIns="1905" tIns="1905" rIns="1905" bIns="1905" rtlCol="0" anchor="ctr">
            <a:normAutofit/>
          </a:bodyPr>
          <a:lstStyle/>
          <a:p>
            <a:pPr marL="0" indent="0" algn="ctr">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c=7</a:t>
            </a:r>
            <a:endParaRPr lang="en-US" sz="1200" dirty="0"/>
          </a:p>
        </p:txBody>
      </p:sp>
      <p:sp>
        <p:nvSpPr>
          <p:cNvPr id="13" name="Text 11"/>
          <p:cNvSpPr/>
          <p:nvPr/>
        </p:nvSpPr>
        <p:spPr>
          <a:xfrm>
            <a:off x="815975" y="2126617"/>
            <a:ext cx="946150" cy="4254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none</a:t>
            </a:r>
            <a:endParaRPr lang="en-US" sz="1300" dirty="0"/>
          </a:p>
        </p:txBody>
      </p:sp>
      <p:sp>
        <p:nvSpPr>
          <p:cNvPr id="14" name="Text 12"/>
          <p:cNvSpPr/>
          <p:nvPr/>
        </p:nvSpPr>
        <p:spPr>
          <a:xfrm>
            <a:off x="17684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15" name="Text 13"/>
          <p:cNvSpPr/>
          <p:nvPr/>
        </p:nvSpPr>
        <p:spPr>
          <a:xfrm>
            <a:off x="23399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16" name="Text 14"/>
          <p:cNvSpPr/>
          <p:nvPr/>
        </p:nvSpPr>
        <p:spPr>
          <a:xfrm>
            <a:off x="29114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17" name="Text 15"/>
          <p:cNvSpPr/>
          <p:nvPr/>
        </p:nvSpPr>
        <p:spPr>
          <a:xfrm>
            <a:off x="34829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18" name="Text 16"/>
          <p:cNvSpPr/>
          <p:nvPr/>
        </p:nvSpPr>
        <p:spPr>
          <a:xfrm>
            <a:off x="40544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19" name="Text 17"/>
          <p:cNvSpPr/>
          <p:nvPr/>
        </p:nvSpPr>
        <p:spPr>
          <a:xfrm>
            <a:off x="46259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20" name="Text 18"/>
          <p:cNvSpPr/>
          <p:nvPr/>
        </p:nvSpPr>
        <p:spPr>
          <a:xfrm>
            <a:off x="51974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21" name="Text 19"/>
          <p:cNvSpPr/>
          <p:nvPr/>
        </p:nvSpPr>
        <p:spPr>
          <a:xfrm>
            <a:off x="5768975" y="21266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22" name="Text 20"/>
          <p:cNvSpPr/>
          <p:nvPr/>
        </p:nvSpPr>
        <p:spPr>
          <a:xfrm>
            <a:off x="815975" y="2558417"/>
            <a:ext cx="946150" cy="4254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A</a:t>
            </a:r>
            <a:endParaRPr lang="en-US" sz="1300" dirty="0"/>
          </a:p>
        </p:txBody>
      </p:sp>
      <p:sp>
        <p:nvSpPr>
          <p:cNvPr id="23" name="Text 21"/>
          <p:cNvSpPr/>
          <p:nvPr/>
        </p:nvSpPr>
        <p:spPr>
          <a:xfrm>
            <a:off x="17684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24" name="Text 22"/>
          <p:cNvSpPr/>
          <p:nvPr/>
        </p:nvSpPr>
        <p:spPr>
          <a:xfrm>
            <a:off x="23399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25" name="Text 23"/>
          <p:cNvSpPr/>
          <p:nvPr/>
        </p:nvSpPr>
        <p:spPr>
          <a:xfrm>
            <a:off x="29114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26" name="Text 24"/>
          <p:cNvSpPr/>
          <p:nvPr/>
        </p:nvSpPr>
        <p:spPr>
          <a:xfrm>
            <a:off x="34829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27" name="Text 25"/>
          <p:cNvSpPr/>
          <p:nvPr/>
        </p:nvSpPr>
        <p:spPr>
          <a:xfrm>
            <a:off x="40544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28" name="Text 26"/>
          <p:cNvSpPr/>
          <p:nvPr/>
        </p:nvSpPr>
        <p:spPr>
          <a:xfrm>
            <a:off x="46259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29" name="Text 27"/>
          <p:cNvSpPr/>
          <p:nvPr/>
        </p:nvSpPr>
        <p:spPr>
          <a:xfrm>
            <a:off x="51974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30" name="Text 28"/>
          <p:cNvSpPr/>
          <p:nvPr/>
        </p:nvSpPr>
        <p:spPr>
          <a:xfrm>
            <a:off x="5768975" y="25584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31" name="Text 29"/>
          <p:cNvSpPr/>
          <p:nvPr/>
        </p:nvSpPr>
        <p:spPr>
          <a:xfrm>
            <a:off x="815975" y="2990217"/>
            <a:ext cx="946150" cy="4254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A–B</a:t>
            </a:r>
            <a:endParaRPr lang="en-US" sz="1300" dirty="0"/>
          </a:p>
        </p:txBody>
      </p:sp>
      <p:sp>
        <p:nvSpPr>
          <p:cNvPr id="32" name="Text 30"/>
          <p:cNvSpPr/>
          <p:nvPr/>
        </p:nvSpPr>
        <p:spPr>
          <a:xfrm>
            <a:off x="17684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33" name="Text 31"/>
          <p:cNvSpPr/>
          <p:nvPr/>
        </p:nvSpPr>
        <p:spPr>
          <a:xfrm>
            <a:off x="23399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34" name="Text 32"/>
          <p:cNvSpPr/>
          <p:nvPr/>
        </p:nvSpPr>
        <p:spPr>
          <a:xfrm>
            <a:off x="29114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35" name="Text 33"/>
          <p:cNvSpPr/>
          <p:nvPr/>
        </p:nvSpPr>
        <p:spPr>
          <a:xfrm>
            <a:off x="3486150" y="2993392"/>
            <a:ext cx="558800" cy="419100"/>
          </a:xfrm>
          <a:prstGeom prst="rect">
            <a:avLst/>
          </a:prstGeom>
          <a:solidFill>
            <a:srgbClr val="F2B134"/>
          </a:solidFill>
          <a:ln w="12700">
            <a:solidFill>
              <a:srgbClr val="0F1B2D"/>
            </a:solidFill>
            <a:prstDash val="solid"/>
          </a:ln>
        </p:spPr>
        <p:txBody>
          <a:bodyPr wrap="square" lIns="3810" tIns="3810" rIns="3810" bIns="3810"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4</a:t>
            </a:r>
            <a:endParaRPr lang="en-US" sz="1500" dirty="0"/>
          </a:p>
        </p:txBody>
      </p:sp>
      <p:sp>
        <p:nvSpPr>
          <p:cNvPr id="36" name="Text 34"/>
          <p:cNvSpPr/>
          <p:nvPr/>
        </p:nvSpPr>
        <p:spPr>
          <a:xfrm>
            <a:off x="40544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37" name="Text 35"/>
          <p:cNvSpPr/>
          <p:nvPr/>
        </p:nvSpPr>
        <p:spPr>
          <a:xfrm>
            <a:off x="46259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38" name="Text 36"/>
          <p:cNvSpPr/>
          <p:nvPr/>
        </p:nvSpPr>
        <p:spPr>
          <a:xfrm>
            <a:off x="51974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39" name="Text 37"/>
          <p:cNvSpPr/>
          <p:nvPr/>
        </p:nvSpPr>
        <p:spPr>
          <a:xfrm>
            <a:off x="5768975" y="29902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40" name="Text 38"/>
          <p:cNvSpPr/>
          <p:nvPr/>
        </p:nvSpPr>
        <p:spPr>
          <a:xfrm>
            <a:off x="815975" y="3422017"/>
            <a:ext cx="946150" cy="4254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A–C</a:t>
            </a:r>
            <a:endParaRPr lang="en-US" sz="1300" dirty="0"/>
          </a:p>
        </p:txBody>
      </p:sp>
      <p:sp>
        <p:nvSpPr>
          <p:cNvPr id="41" name="Text 39"/>
          <p:cNvSpPr/>
          <p:nvPr/>
        </p:nvSpPr>
        <p:spPr>
          <a:xfrm>
            <a:off x="17684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42" name="Text 40"/>
          <p:cNvSpPr/>
          <p:nvPr/>
        </p:nvSpPr>
        <p:spPr>
          <a:xfrm>
            <a:off x="23399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43" name="Text 41"/>
          <p:cNvSpPr/>
          <p:nvPr/>
        </p:nvSpPr>
        <p:spPr>
          <a:xfrm>
            <a:off x="29114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44" name="Text 42"/>
          <p:cNvSpPr/>
          <p:nvPr/>
        </p:nvSpPr>
        <p:spPr>
          <a:xfrm>
            <a:off x="34829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4</a:t>
            </a:r>
            <a:endParaRPr lang="en-US" sz="1500" dirty="0"/>
          </a:p>
        </p:txBody>
      </p:sp>
      <p:sp>
        <p:nvSpPr>
          <p:cNvPr id="45" name="Text 43"/>
          <p:cNvSpPr/>
          <p:nvPr/>
        </p:nvSpPr>
        <p:spPr>
          <a:xfrm>
            <a:off x="40544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46" name="Text 44"/>
          <p:cNvSpPr/>
          <p:nvPr/>
        </p:nvSpPr>
        <p:spPr>
          <a:xfrm>
            <a:off x="46259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6</a:t>
            </a:r>
            <a:endParaRPr lang="en-US" sz="1500" dirty="0"/>
          </a:p>
        </p:txBody>
      </p:sp>
      <p:sp>
        <p:nvSpPr>
          <p:cNvPr id="47" name="Text 45"/>
          <p:cNvSpPr/>
          <p:nvPr/>
        </p:nvSpPr>
        <p:spPr>
          <a:xfrm>
            <a:off x="5197475" y="34220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6</a:t>
            </a:r>
            <a:endParaRPr lang="en-US" sz="1500" dirty="0"/>
          </a:p>
        </p:txBody>
      </p:sp>
      <p:sp>
        <p:nvSpPr>
          <p:cNvPr id="48" name="Text 46"/>
          <p:cNvSpPr/>
          <p:nvPr/>
        </p:nvSpPr>
        <p:spPr>
          <a:xfrm>
            <a:off x="5772150" y="3425192"/>
            <a:ext cx="558800" cy="419100"/>
          </a:xfrm>
          <a:prstGeom prst="rect">
            <a:avLst/>
          </a:prstGeom>
          <a:solidFill>
            <a:srgbClr val="F2B134"/>
          </a:solidFill>
          <a:ln w="12700">
            <a:solidFill>
              <a:srgbClr val="0F1B2D"/>
            </a:solidFill>
            <a:prstDash val="solid"/>
          </a:ln>
        </p:spPr>
        <p:txBody>
          <a:bodyPr wrap="square" lIns="3810" tIns="3810" rIns="3810" bIns="3810"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9</a:t>
            </a:r>
            <a:endParaRPr lang="en-US" sz="1500" dirty="0"/>
          </a:p>
        </p:txBody>
      </p:sp>
      <p:sp>
        <p:nvSpPr>
          <p:cNvPr id="49" name="Text 47"/>
          <p:cNvSpPr/>
          <p:nvPr/>
        </p:nvSpPr>
        <p:spPr>
          <a:xfrm>
            <a:off x="815975" y="3853817"/>
            <a:ext cx="946150" cy="425450"/>
          </a:xfrm>
          <a:prstGeom prst="rect">
            <a:avLst/>
          </a:prstGeom>
          <a:solidFill>
            <a:srgbClr val="E8E1D0"/>
          </a:solidFill>
          <a:ln w="6350">
            <a:solidFill>
              <a:srgbClr val="DDD6C8"/>
            </a:solidFill>
            <a:prstDash val="solid"/>
          </a:ln>
        </p:spPr>
        <p:txBody>
          <a:bodyPr wrap="square" lIns="1905" tIns="1905" rIns="1905" bIns="1905"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A–D</a:t>
            </a:r>
            <a:endParaRPr lang="en-US" sz="1300" dirty="0"/>
          </a:p>
        </p:txBody>
      </p:sp>
      <p:sp>
        <p:nvSpPr>
          <p:cNvPr id="50" name="Text 48"/>
          <p:cNvSpPr/>
          <p:nvPr/>
        </p:nvSpPr>
        <p:spPr>
          <a:xfrm>
            <a:off x="17684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dirty="0">
                <a:solidFill>
                  <a:srgbClr val="4A5568"/>
                </a:solidFill>
                <a:latin typeface="JetBrains Mono" pitchFamily="49" charset="0"/>
                <a:ea typeface="JetBrains Mono" pitchFamily="49" charset="-122"/>
                <a:cs typeface="JetBrains Mono" pitchFamily="49" charset="-120"/>
              </a:rPr>
              <a:t>0</a:t>
            </a:r>
            <a:endParaRPr lang="en-US" sz="1500" dirty="0"/>
          </a:p>
        </p:txBody>
      </p:sp>
      <p:sp>
        <p:nvSpPr>
          <p:cNvPr id="51" name="Text 49"/>
          <p:cNvSpPr/>
          <p:nvPr/>
        </p:nvSpPr>
        <p:spPr>
          <a:xfrm>
            <a:off x="23399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52" name="Text 50"/>
          <p:cNvSpPr/>
          <p:nvPr/>
        </p:nvSpPr>
        <p:spPr>
          <a:xfrm>
            <a:off x="29114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1</a:t>
            </a:r>
            <a:endParaRPr lang="en-US" sz="1500" dirty="0"/>
          </a:p>
        </p:txBody>
      </p:sp>
      <p:sp>
        <p:nvSpPr>
          <p:cNvPr id="53" name="Text 51"/>
          <p:cNvSpPr/>
          <p:nvPr/>
        </p:nvSpPr>
        <p:spPr>
          <a:xfrm>
            <a:off x="34829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4</a:t>
            </a:r>
            <a:endParaRPr lang="en-US" sz="1500" dirty="0"/>
          </a:p>
        </p:txBody>
      </p:sp>
      <p:sp>
        <p:nvSpPr>
          <p:cNvPr id="54" name="Text 52"/>
          <p:cNvSpPr/>
          <p:nvPr/>
        </p:nvSpPr>
        <p:spPr>
          <a:xfrm>
            <a:off x="40544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5</a:t>
            </a:r>
            <a:endParaRPr lang="en-US" sz="1500" dirty="0"/>
          </a:p>
        </p:txBody>
      </p:sp>
      <p:sp>
        <p:nvSpPr>
          <p:cNvPr id="55" name="Text 53"/>
          <p:cNvSpPr/>
          <p:nvPr/>
        </p:nvSpPr>
        <p:spPr>
          <a:xfrm>
            <a:off x="46259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7</a:t>
            </a:r>
            <a:endParaRPr lang="en-US" sz="1500" dirty="0"/>
          </a:p>
        </p:txBody>
      </p:sp>
      <p:sp>
        <p:nvSpPr>
          <p:cNvPr id="56" name="Text 54"/>
          <p:cNvSpPr/>
          <p:nvPr/>
        </p:nvSpPr>
        <p:spPr>
          <a:xfrm>
            <a:off x="5197475" y="3853817"/>
            <a:ext cx="565150" cy="425450"/>
          </a:xfrm>
          <a:prstGeom prst="rect">
            <a:avLst/>
          </a:prstGeom>
          <a:solidFill>
            <a:srgbClr val="FFFDF8"/>
          </a:solidFill>
          <a:ln w="6350">
            <a:solidFill>
              <a:srgbClr val="DDD6C8"/>
            </a:solidFill>
            <a:prstDash val="solid"/>
          </a:ln>
        </p:spPr>
        <p:txBody>
          <a:bodyPr wrap="square" lIns="1905" tIns="1905" rIns="1905" bIns="1905"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8</a:t>
            </a:r>
            <a:endParaRPr lang="en-US" sz="1500" dirty="0"/>
          </a:p>
        </p:txBody>
      </p:sp>
      <p:sp>
        <p:nvSpPr>
          <p:cNvPr id="57" name="Text 55"/>
          <p:cNvSpPr/>
          <p:nvPr/>
        </p:nvSpPr>
        <p:spPr>
          <a:xfrm>
            <a:off x="5772150" y="3856992"/>
            <a:ext cx="558800" cy="419100"/>
          </a:xfrm>
          <a:prstGeom prst="rect">
            <a:avLst/>
          </a:prstGeom>
          <a:solidFill>
            <a:srgbClr val="F2B134"/>
          </a:solidFill>
          <a:ln w="12700">
            <a:solidFill>
              <a:srgbClr val="0F1B2D"/>
            </a:solidFill>
            <a:prstDash val="solid"/>
          </a:ln>
        </p:spPr>
        <p:txBody>
          <a:bodyPr wrap="square" lIns="3810" tIns="3810" rIns="3810" bIns="3810" rtlCol="0" anchor="ctr">
            <a:normAutofit/>
          </a:bodyPr>
          <a:lstStyle/>
          <a:p>
            <a:pPr marL="0" indent="0" algn="ctr">
              <a:lnSpc>
                <a:spcPts val="2100"/>
              </a:lnSpc>
              <a:buNone/>
            </a:pPr>
            <a:r>
              <a:rPr lang="en-US" sz="1500" b="1" dirty="0">
                <a:solidFill>
                  <a:srgbClr val="0F1B2D"/>
                </a:solidFill>
                <a:latin typeface="JetBrains Mono" pitchFamily="49" charset="0"/>
                <a:ea typeface="JetBrains Mono" pitchFamily="49" charset="-122"/>
                <a:cs typeface="JetBrains Mono" pitchFamily="49" charset="-120"/>
              </a:rPr>
              <a:t>9</a:t>
            </a:r>
            <a:endParaRPr lang="en-US" sz="1500" dirty="0"/>
          </a:p>
        </p:txBody>
      </p:sp>
      <p:sp>
        <p:nvSpPr>
          <p:cNvPr id="58" name="Shape 56"/>
          <p:cNvSpPr/>
          <p:nvPr/>
        </p:nvSpPr>
        <p:spPr>
          <a:xfrm>
            <a:off x="6648450" y="1697992"/>
            <a:ext cx="4724400" cy="566420"/>
          </a:xfrm>
          <a:prstGeom prst="roundRect">
            <a:avLst>
              <a:gd name="adj" fmla="val 16816"/>
            </a:avLst>
          </a:prstGeom>
          <a:solidFill>
            <a:srgbClr val="FFFDF8"/>
          </a:solidFill>
          <a:ln w="12700">
            <a:solidFill>
              <a:srgbClr val="DDD6C8"/>
            </a:solidFill>
            <a:prstDash val="solid"/>
          </a:ln>
        </p:spPr>
      </p:sp>
      <p:sp>
        <p:nvSpPr>
          <p:cNvPr id="59" name="Text 57"/>
          <p:cNvSpPr/>
          <p:nvPr/>
        </p:nvSpPr>
        <p:spPr>
          <a:xfrm>
            <a:off x="6779260" y="1816100"/>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B7A75"/>
          </a:solidFill>
          <a:ln/>
        </p:spPr>
        <p:txBody>
          <a:bodyPr wrap="square" lIns="0" tIns="0" rIns="0" bIns="0" rtlCol="0" anchor="ctr">
            <a:normAutofit/>
          </a:bodyPr>
          <a:lstStyle/>
          <a:p>
            <a:pPr marL="0" indent="0" algn="ctr">
              <a:lnSpc>
                <a:spcPts val="1960"/>
              </a:lnSpc>
              <a:buNone/>
            </a:pPr>
            <a:r>
              <a:rPr lang="en-US" sz="1400" b="1" dirty="0">
                <a:solidFill>
                  <a:srgbClr val="FFFDF8"/>
                </a:solidFill>
                <a:latin typeface="DM Sans" pitchFamily="34" charset="0"/>
                <a:ea typeface="DM Sans" pitchFamily="34" charset="-122"/>
                <a:cs typeface="DM Sans" pitchFamily="34" charset="-120"/>
              </a:rPr>
              <a:t>1</a:t>
            </a:r>
            <a:endParaRPr lang="en-US" sz="1400" dirty="0"/>
          </a:p>
        </p:txBody>
      </p:sp>
      <p:sp>
        <p:nvSpPr>
          <p:cNvPr id="60" name="Text 58"/>
          <p:cNvSpPr/>
          <p:nvPr/>
        </p:nvSpPr>
        <p:spPr>
          <a:xfrm>
            <a:off x="7236460" y="1861189"/>
            <a:ext cx="4125747"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1B2D"/>
                </a:solidFill>
                <a:latin typeface="DM Sans" pitchFamily="34" charset="0"/>
                <a:ea typeface="DM Sans" pitchFamily="34" charset="-122"/>
                <a:cs typeface="DM Sans" pitchFamily="34" charset="-120"/>
              </a:rPr>
              <a:t>dp[4][7] = 9 equals dp[3][7], so skip D.</a:t>
            </a:r>
            <a:endParaRPr lang="en-US" sz="1400" dirty="0"/>
          </a:p>
        </p:txBody>
      </p:sp>
      <p:sp>
        <p:nvSpPr>
          <p:cNvPr id="61" name="Shape 59"/>
          <p:cNvSpPr/>
          <p:nvPr/>
        </p:nvSpPr>
        <p:spPr>
          <a:xfrm>
            <a:off x="6648450" y="2378714"/>
            <a:ext cx="4724400" cy="716280"/>
          </a:xfrm>
          <a:prstGeom prst="roundRect">
            <a:avLst>
              <a:gd name="adj" fmla="val 13298"/>
            </a:avLst>
          </a:prstGeom>
          <a:solidFill>
            <a:srgbClr val="FFFDF8"/>
          </a:solidFill>
          <a:ln w="12700">
            <a:solidFill>
              <a:srgbClr val="DDD6C8"/>
            </a:solidFill>
            <a:prstDash val="solid"/>
          </a:ln>
        </p:spPr>
      </p:sp>
      <p:sp>
        <p:nvSpPr>
          <p:cNvPr id="62" name="Text 60"/>
          <p:cNvSpPr/>
          <p:nvPr/>
        </p:nvSpPr>
        <p:spPr>
          <a:xfrm>
            <a:off x="6779260" y="2571750"/>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B7A75"/>
          </a:solidFill>
          <a:ln/>
        </p:spPr>
        <p:txBody>
          <a:bodyPr wrap="square" lIns="0" tIns="0" rIns="0" bIns="0" rtlCol="0" anchor="ctr">
            <a:normAutofit/>
          </a:bodyPr>
          <a:lstStyle/>
          <a:p>
            <a:pPr marL="0" indent="0" algn="ctr">
              <a:lnSpc>
                <a:spcPts val="1960"/>
              </a:lnSpc>
              <a:buNone/>
            </a:pPr>
            <a:r>
              <a:rPr lang="en-US" sz="1400" b="1" dirty="0">
                <a:solidFill>
                  <a:srgbClr val="FFFDF8"/>
                </a:solidFill>
                <a:latin typeface="DM Sans" pitchFamily="34" charset="0"/>
                <a:ea typeface="DM Sans" pitchFamily="34" charset="-122"/>
                <a:cs typeface="DM Sans" pitchFamily="34" charset="-120"/>
              </a:rPr>
              <a:t>2</a:t>
            </a:r>
            <a:endParaRPr lang="en-US" sz="1400" dirty="0"/>
          </a:p>
        </p:txBody>
      </p:sp>
      <p:sp>
        <p:nvSpPr>
          <p:cNvPr id="63" name="Text 61"/>
          <p:cNvSpPr/>
          <p:nvPr/>
        </p:nvSpPr>
        <p:spPr>
          <a:xfrm>
            <a:off x="7236460" y="2496821"/>
            <a:ext cx="412574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1B2D"/>
                </a:solidFill>
                <a:latin typeface="DM Sans" pitchFamily="34" charset="0"/>
                <a:ea typeface="DM Sans" pitchFamily="34" charset="-122"/>
                <a:cs typeface="DM Sans" pitchFamily="34" charset="-120"/>
              </a:rPr>
              <a:t>dp[3][7] = 9 differs from dp[2][7] = 5, so take C. Capacity left: 7 − 4 = 3.</a:t>
            </a:r>
            <a:endParaRPr lang="en-US" sz="1400" dirty="0"/>
          </a:p>
        </p:txBody>
      </p:sp>
      <p:sp>
        <p:nvSpPr>
          <p:cNvPr id="64" name="Shape 62"/>
          <p:cNvSpPr/>
          <p:nvPr/>
        </p:nvSpPr>
        <p:spPr>
          <a:xfrm>
            <a:off x="6648450" y="3209292"/>
            <a:ext cx="4724400" cy="716280"/>
          </a:xfrm>
          <a:prstGeom prst="roundRect">
            <a:avLst>
              <a:gd name="adj" fmla="val 13298"/>
            </a:avLst>
          </a:prstGeom>
          <a:solidFill>
            <a:srgbClr val="FFFDF8"/>
          </a:solidFill>
          <a:ln w="12700">
            <a:solidFill>
              <a:srgbClr val="DDD6C8"/>
            </a:solidFill>
            <a:prstDash val="solid"/>
          </a:ln>
        </p:spPr>
      </p:sp>
      <p:sp>
        <p:nvSpPr>
          <p:cNvPr id="65" name="Text 63"/>
          <p:cNvSpPr/>
          <p:nvPr/>
        </p:nvSpPr>
        <p:spPr>
          <a:xfrm>
            <a:off x="6779260" y="3402329"/>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B7A75"/>
          </a:solidFill>
          <a:ln/>
        </p:spPr>
        <p:txBody>
          <a:bodyPr wrap="square" lIns="0" tIns="0" rIns="0" bIns="0" rtlCol="0" anchor="ctr">
            <a:normAutofit/>
          </a:bodyPr>
          <a:lstStyle/>
          <a:p>
            <a:pPr marL="0" indent="0" algn="ctr">
              <a:lnSpc>
                <a:spcPts val="1960"/>
              </a:lnSpc>
              <a:buNone/>
            </a:pPr>
            <a:r>
              <a:rPr lang="en-US" sz="1400" b="1" dirty="0">
                <a:solidFill>
                  <a:srgbClr val="FFFDF8"/>
                </a:solidFill>
                <a:latin typeface="DM Sans" pitchFamily="34" charset="0"/>
                <a:ea typeface="DM Sans" pitchFamily="34" charset="-122"/>
                <a:cs typeface="DM Sans" pitchFamily="34" charset="-120"/>
              </a:rPr>
              <a:t>3</a:t>
            </a:r>
            <a:endParaRPr lang="en-US" sz="1400" dirty="0"/>
          </a:p>
        </p:txBody>
      </p:sp>
      <p:sp>
        <p:nvSpPr>
          <p:cNvPr id="66" name="Text 64"/>
          <p:cNvSpPr/>
          <p:nvPr/>
        </p:nvSpPr>
        <p:spPr>
          <a:xfrm>
            <a:off x="7236460" y="3327400"/>
            <a:ext cx="4125747"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F1B2D"/>
                </a:solidFill>
                <a:latin typeface="DM Sans" pitchFamily="34" charset="0"/>
                <a:ea typeface="DM Sans" pitchFamily="34" charset="-122"/>
                <a:cs typeface="DM Sans" pitchFamily="34" charset="-120"/>
              </a:rPr>
              <a:t>dp[2][3] = 4 differs from dp[1][3] = 1, so take B. Capacity left: 3 − 3 = 0, stop.</a:t>
            </a:r>
            <a:endParaRPr lang="en-US" sz="1400" dirty="0"/>
          </a:p>
        </p:txBody>
      </p:sp>
      <p:sp>
        <p:nvSpPr>
          <p:cNvPr id="67" name="Text 65"/>
          <p:cNvSpPr/>
          <p:nvPr/>
        </p:nvSpPr>
        <p:spPr>
          <a:xfrm>
            <a:off x="812800" y="4536442"/>
            <a:ext cx="10566400" cy="636270"/>
          </a:xfrm>
          <a:prstGeom prst="roundRect">
            <a:avLst>
              <a:gd name="adj" fmla="val 17964"/>
            </a:avLst>
          </a:prstGeom>
          <a:solidFill>
            <a:srgbClr val="0F1B2D"/>
          </a:solidFill>
          <a:ln/>
        </p:spPr>
        <p:txBody>
          <a:bodyPr wrap="square" lIns="220523" tIns="144323" rIns="0" bIns="118923" rtlCol="0" anchor="t">
            <a:normAutofit/>
          </a:bodyPr>
          <a:lstStyle/>
          <a:p>
            <a:pPr marL="0" indent="0" algn="l">
              <a:lnSpc>
                <a:spcPts val="2210"/>
              </a:lnSpc>
              <a:buNone/>
            </a:pPr>
            <a:r>
              <a:rPr lang="en-US" sz="1700" b="1" dirty="0">
                <a:solidFill>
                  <a:srgbClr val="F6F3EC"/>
                </a:solidFill>
                <a:latin typeface="DM Sans" pitchFamily="34" charset="0"/>
                <a:ea typeface="DM Sans" pitchFamily="34" charset="-122"/>
                <a:cs typeface="DM Sans" pitchFamily="34" charset="-120"/>
              </a:rPr>
              <a:t>Chosen items: B and C · total weight 7 kg · total value 9 pts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04 · DYNAMIC PROGRAMMING</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Python implementation</a:t>
            </a:r>
            <a:endParaRPr lang="en-US" sz="3000" dirty="0"/>
          </a:p>
        </p:txBody>
      </p:sp>
      <p:sp>
        <p:nvSpPr>
          <p:cNvPr id="4" name="Shape 2"/>
          <p:cNvSpPr/>
          <p:nvPr/>
        </p:nvSpPr>
        <p:spPr>
          <a:xfrm>
            <a:off x="812800" y="1691642"/>
            <a:ext cx="10566400" cy="3111500"/>
          </a:xfrm>
          <a:prstGeom prst="roundRect">
            <a:avLst>
              <a:gd name="adj" fmla="val 4898"/>
            </a:avLst>
          </a:prstGeom>
          <a:solidFill>
            <a:srgbClr val="0F1B2D"/>
          </a:solidFill>
          <a:ln/>
        </p:spPr>
      </p:sp>
      <p:sp>
        <p:nvSpPr>
          <p:cNvPr id="5" name="Text 3"/>
          <p:cNvSpPr/>
          <p:nvPr/>
        </p:nvSpPr>
        <p:spPr>
          <a:xfrm>
            <a:off x="1117600" y="1945642"/>
            <a:ext cx="1025550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FD1C5"/>
                </a:solidFill>
                <a:latin typeface="JetBrains Mono" pitchFamily="49" charset="0"/>
                <a:ea typeface="JetBrains Mono" pitchFamily="49" charset="-122"/>
                <a:cs typeface="JetBrains Mono" pitchFamily="49" charset="-120"/>
              </a:rPr>
              <a:t>def</a:t>
            </a:r>
            <a:r>
              <a:rPr lang="en-US" sz="1400" dirty="0">
                <a:solidFill>
                  <a:srgbClr val="F6F3EC"/>
                </a:solidFill>
                <a:latin typeface="JetBrains Mono" pitchFamily="49" charset="0"/>
                <a:ea typeface="JetBrains Mono" pitchFamily="49" charset="-122"/>
                <a:cs typeface="JetBrains Mono" pitchFamily="49" charset="-120"/>
              </a:rPr>
              <a:t> knapsack(w, v, W):</a:t>
            </a:r>
            <a:endParaRPr lang="en-US" sz="1400" dirty="0"/>
          </a:p>
        </p:txBody>
      </p:sp>
      <p:sp>
        <p:nvSpPr>
          <p:cNvPr id="6" name="Text 4"/>
          <p:cNvSpPr/>
          <p:nvPr/>
        </p:nvSpPr>
        <p:spPr>
          <a:xfrm>
            <a:off x="1371600" y="2237742"/>
            <a:ext cx="999388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6F3EC"/>
                </a:solidFill>
                <a:latin typeface="JetBrains Mono" pitchFamily="49" charset="0"/>
                <a:ea typeface="JetBrains Mono" pitchFamily="49" charset="-122"/>
                <a:cs typeface="JetBrains Mono" pitchFamily="49" charset="-120"/>
              </a:rPr>
              <a:t>n = len(w)</a:t>
            </a:r>
            <a:endParaRPr lang="en-US" sz="1400" dirty="0"/>
          </a:p>
        </p:txBody>
      </p:sp>
      <p:sp>
        <p:nvSpPr>
          <p:cNvPr id="7" name="Text 5"/>
          <p:cNvSpPr/>
          <p:nvPr/>
        </p:nvSpPr>
        <p:spPr>
          <a:xfrm>
            <a:off x="1371600" y="2529842"/>
            <a:ext cx="999388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6F3EC"/>
                </a:solidFill>
                <a:latin typeface="JetBrains Mono" pitchFamily="49" charset="0"/>
                <a:ea typeface="JetBrains Mono" pitchFamily="49" charset="-122"/>
                <a:cs typeface="JetBrains Mono" pitchFamily="49" charset="-120"/>
              </a:rPr>
              <a:t>dp = [[0] * (W + 1) </a:t>
            </a:r>
            <a:r>
              <a:rPr lang="en-US" sz="1400" dirty="0">
                <a:solidFill>
                  <a:srgbClr val="4FD1C5"/>
                </a:solidFill>
                <a:latin typeface="JetBrains Mono" pitchFamily="49" charset="0"/>
                <a:ea typeface="JetBrains Mono" pitchFamily="49" charset="-122"/>
                <a:cs typeface="JetBrains Mono" pitchFamily="49" charset="-120"/>
              </a:rPr>
              <a:t>for</a:t>
            </a:r>
            <a:r>
              <a:rPr lang="en-US" sz="1400" dirty="0">
                <a:solidFill>
                  <a:srgbClr val="F6F3EC"/>
                </a:solidFill>
                <a:latin typeface="JetBrains Mono" pitchFamily="49" charset="0"/>
                <a:ea typeface="JetBrains Mono" pitchFamily="49" charset="-122"/>
                <a:cs typeface="JetBrains Mono" pitchFamily="49" charset="-120"/>
              </a:rPr>
              <a:t> _ </a:t>
            </a:r>
            <a:r>
              <a:rPr lang="en-US" sz="1400" dirty="0">
                <a:solidFill>
                  <a:srgbClr val="4FD1C5"/>
                </a:solidFill>
                <a:latin typeface="JetBrains Mono" pitchFamily="49" charset="0"/>
                <a:ea typeface="JetBrains Mono" pitchFamily="49" charset="-122"/>
                <a:cs typeface="JetBrains Mono" pitchFamily="49" charset="-120"/>
              </a:rPr>
              <a:t>in</a:t>
            </a:r>
            <a:r>
              <a:rPr lang="en-US" sz="1400" dirty="0">
                <a:solidFill>
                  <a:srgbClr val="F6F3EC"/>
                </a:solidFill>
                <a:latin typeface="JetBrains Mono" pitchFamily="49" charset="0"/>
                <a:ea typeface="JetBrains Mono" pitchFamily="49" charset="-122"/>
                <a:cs typeface="JetBrains Mono" pitchFamily="49" charset="-120"/>
              </a:rPr>
              <a:t> range(n + 1)]</a:t>
            </a:r>
            <a:endParaRPr lang="en-US" sz="1400" dirty="0"/>
          </a:p>
        </p:txBody>
      </p:sp>
      <p:sp>
        <p:nvSpPr>
          <p:cNvPr id="8" name="Text 6"/>
          <p:cNvSpPr/>
          <p:nvPr/>
        </p:nvSpPr>
        <p:spPr>
          <a:xfrm>
            <a:off x="1371600" y="2821942"/>
            <a:ext cx="999388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FD1C5"/>
                </a:solidFill>
                <a:latin typeface="JetBrains Mono" pitchFamily="49" charset="0"/>
                <a:ea typeface="JetBrains Mono" pitchFamily="49" charset="-122"/>
                <a:cs typeface="JetBrains Mono" pitchFamily="49" charset="-120"/>
              </a:rPr>
              <a:t>for</a:t>
            </a:r>
            <a:r>
              <a:rPr lang="en-US" sz="1400" dirty="0">
                <a:solidFill>
                  <a:srgbClr val="F6F3EC"/>
                </a:solidFill>
                <a:latin typeface="JetBrains Mono" pitchFamily="49" charset="0"/>
                <a:ea typeface="JetBrains Mono" pitchFamily="49" charset="-122"/>
                <a:cs typeface="JetBrains Mono" pitchFamily="49" charset="-120"/>
              </a:rPr>
              <a:t> i </a:t>
            </a:r>
            <a:r>
              <a:rPr lang="en-US" sz="1400" dirty="0">
                <a:solidFill>
                  <a:srgbClr val="4FD1C5"/>
                </a:solidFill>
                <a:latin typeface="JetBrains Mono" pitchFamily="49" charset="0"/>
                <a:ea typeface="JetBrains Mono" pitchFamily="49" charset="-122"/>
                <a:cs typeface="JetBrains Mono" pitchFamily="49" charset="-120"/>
              </a:rPr>
              <a:t>in</a:t>
            </a:r>
            <a:r>
              <a:rPr lang="en-US" sz="1400" dirty="0">
                <a:solidFill>
                  <a:srgbClr val="F6F3EC"/>
                </a:solidFill>
                <a:latin typeface="JetBrains Mono" pitchFamily="49" charset="0"/>
                <a:ea typeface="JetBrains Mono" pitchFamily="49" charset="-122"/>
                <a:cs typeface="JetBrains Mono" pitchFamily="49" charset="-120"/>
              </a:rPr>
              <a:t> range(1, n + 1):</a:t>
            </a:r>
            <a:endParaRPr lang="en-US" sz="1400" dirty="0"/>
          </a:p>
        </p:txBody>
      </p:sp>
      <p:sp>
        <p:nvSpPr>
          <p:cNvPr id="9" name="Text 7"/>
          <p:cNvSpPr/>
          <p:nvPr/>
        </p:nvSpPr>
        <p:spPr>
          <a:xfrm>
            <a:off x="1625600" y="3114042"/>
            <a:ext cx="973226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FD1C5"/>
                </a:solidFill>
                <a:latin typeface="JetBrains Mono" pitchFamily="49" charset="0"/>
                <a:ea typeface="JetBrains Mono" pitchFamily="49" charset="-122"/>
                <a:cs typeface="JetBrains Mono" pitchFamily="49" charset="-120"/>
              </a:rPr>
              <a:t>for</a:t>
            </a:r>
            <a:r>
              <a:rPr lang="en-US" sz="1400" dirty="0">
                <a:solidFill>
                  <a:srgbClr val="F6F3EC"/>
                </a:solidFill>
                <a:latin typeface="JetBrains Mono" pitchFamily="49" charset="0"/>
                <a:ea typeface="JetBrains Mono" pitchFamily="49" charset="-122"/>
                <a:cs typeface="JetBrains Mono" pitchFamily="49" charset="-120"/>
              </a:rPr>
              <a:t> c </a:t>
            </a:r>
            <a:r>
              <a:rPr lang="en-US" sz="1400" dirty="0">
                <a:solidFill>
                  <a:srgbClr val="4FD1C5"/>
                </a:solidFill>
                <a:latin typeface="JetBrains Mono" pitchFamily="49" charset="0"/>
                <a:ea typeface="JetBrains Mono" pitchFamily="49" charset="-122"/>
                <a:cs typeface="JetBrains Mono" pitchFamily="49" charset="-120"/>
              </a:rPr>
              <a:t>in</a:t>
            </a:r>
            <a:r>
              <a:rPr lang="en-US" sz="1400" dirty="0">
                <a:solidFill>
                  <a:srgbClr val="F6F3EC"/>
                </a:solidFill>
                <a:latin typeface="JetBrains Mono" pitchFamily="49" charset="0"/>
                <a:ea typeface="JetBrains Mono" pitchFamily="49" charset="-122"/>
                <a:cs typeface="JetBrains Mono" pitchFamily="49" charset="-120"/>
              </a:rPr>
              <a:t> range(W + 1):</a:t>
            </a:r>
            <a:endParaRPr lang="en-US" sz="1400" dirty="0"/>
          </a:p>
        </p:txBody>
      </p:sp>
      <p:sp>
        <p:nvSpPr>
          <p:cNvPr id="10" name="Text 8"/>
          <p:cNvSpPr/>
          <p:nvPr/>
        </p:nvSpPr>
        <p:spPr>
          <a:xfrm>
            <a:off x="1879600" y="3406142"/>
            <a:ext cx="94706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6F3EC"/>
                </a:solidFill>
                <a:latin typeface="JetBrains Mono" pitchFamily="49" charset="0"/>
                <a:ea typeface="JetBrains Mono" pitchFamily="49" charset="-122"/>
                <a:cs typeface="JetBrains Mono" pitchFamily="49" charset="-120"/>
              </a:rPr>
              <a:t>dp[i][c] = dp[i-1][c] </a:t>
            </a:r>
            <a:r>
              <a:rPr lang="en-US" sz="1400" dirty="0">
                <a:solidFill>
                  <a:srgbClr val="8FA3BF"/>
                </a:solidFill>
                <a:latin typeface="JetBrains Mono" pitchFamily="49" charset="0"/>
                <a:ea typeface="JetBrains Mono" pitchFamily="49" charset="-122"/>
                <a:cs typeface="JetBrains Mono" pitchFamily="49" charset="-120"/>
              </a:rPr>
              <a:t># skip item i</a:t>
            </a:r>
            <a:endParaRPr lang="en-US" sz="1400" dirty="0"/>
          </a:p>
        </p:txBody>
      </p:sp>
      <p:sp>
        <p:nvSpPr>
          <p:cNvPr id="11" name="Text 9"/>
          <p:cNvSpPr/>
          <p:nvPr/>
        </p:nvSpPr>
        <p:spPr>
          <a:xfrm>
            <a:off x="1879600" y="3698242"/>
            <a:ext cx="94706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FD1C5"/>
                </a:solidFill>
                <a:latin typeface="JetBrains Mono" pitchFamily="49" charset="0"/>
                <a:ea typeface="JetBrains Mono" pitchFamily="49" charset="-122"/>
                <a:cs typeface="JetBrains Mono" pitchFamily="49" charset="-120"/>
              </a:rPr>
              <a:t>if</a:t>
            </a:r>
            <a:r>
              <a:rPr lang="en-US" sz="1400" dirty="0">
                <a:solidFill>
                  <a:srgbClr val="F6F3EC"/>
                </a:solidFill>
                <a:latin typeface="JetBrains Mono" pitchFamily="49" charset="0"/>
                <a:ea typeface="JetBrains Mono" pitchFamily="49" charset="-122"/>
                <a:cs typeface="JetBrains Mono" pitchFamily="49" charset="-120"/>
              </a:rPr>
              <a:t> w[i-1] &lt;= c: </a:t>
            </a:r>
            <a:r>
              <a:rPr lang="en-US" sz="1400" dirty="0">
                <a:solidFill>
                  <a:srgbClr val="8FA3BF"/>
                </a:solidFill>
                <a:latin typeface="JetBrains Mono" pitchFamily="49" charset="0"/>
                <a:ea typeface="JetBrains Mono" pitchFamily="49" charset="-122"/>
                <a:cs typeface="JetBrains Mono" pitchFamily="49" charset="-120"/>
              </a:rPr>
              <a:t># item i fits</a:t>
            </a:r>
            <a:endParaRPr lang="en-US" sz="1400" dirty="0"/>
          </a:p>
        </p:txBody>
      </p:sp>
      <p:sp>
        <p:nvSpPr>
          <p:cNvPr id="12" name="Text 10"/>
          <p:cNvSpPr/>
          <p:nvPr/>
        </p:nvSpPr>
        <p:spPr>
          <a:xfrm>
            <a:off x="2133600" y="3990342"/>
            <a:ext cx="920902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6F3EC"/>
                </a:solidFill>
                <a:latin typeface="JetBrains Mono" pitchFamily="49" charset="0"/>
                <a:ea typeface="JetBrains Mono" pitchFamily="49" charset="-122"/>
                <a:cs typeface="JetBrains Mono" pitchFamily="49" charset="-120"/>
              </a:rPr>
              <a:t>dp[i][c] = max(dp[i][c], v[i-1] + dp[i-1][c-w[i-1]])</a:t>
            </a:r>
            <a:endParaRPr lang="en-US" sz="1400" dirty="0"/>
          </a:p>
        </p:txBody>
      </p:sp>
      <p:sp>
        <p:nvSpPr>
          <p:cNvPr id="13" name="Text 11"/>
          <p:cNvSpPr/>
          <p:nvPr/>
        </p:nvSpPr>
        <p:spPr>
          <a:xfrm>
            <a:off x="1371600" y="4282442"/>
            <a:ext cx="999388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FD1C5"/>
                </a:solidFill>
                <a:latin typeface="JetBrains Mono" pitchFamily="49" charset="0"/>
                <a:ea typeface="JetBrains Mono" pitchFamily="49" charset="-122"/>
                <a:cs typeface="JetBrains Mono" pitchFamily="49" charset="-120"/>
              </a:rPr>
              <a:t>return</a:t>
            </a:r>
            <a:r>
              <a:rPr lang="en-US" sz="1400" dirty="0">
                <a:solidFill>
                  <a:srgbClr val="F6F3EC"/>
                </a:solidFill>
                <a:latin typeface="JetBrains Mono" pitchFamily="49" charset="0"/>
                <a:ea typeface="JetBrains Mono" pitchFamily="49" charset="-122"/>
                <a:cs typeface="JetBrains Mono" pitchFamily="49" charset="-120"/>
              </a:rPr>
              <a:t> dp[n][W]</a:t>
            </a:r>
            <a:endParaRPr lang="en-US" sz="1400" dirty="0"/>
          </a:p>
        </p:txBody>
      </p:sp>
      <p:sp>
        <p:nvSpPr>
          <p:cNvPr id="14" name="Text 12"/>
          <p:cNvSpPr/>
          <p:nvPr/>
        </p:nvSpPr>
        <p:spPr>
          <a:xfrm>
            <a:off x="812800" y="5057142"/>
            <a:ext cx="983059" cy="358140"/>
          </a:xfrm>
          <a:prstGeom prst="roundRect">
            <a:avLst>
              <a:gd name="adj" fmla="val 50000"/>
            </a:avLst>
          </a:prstGeom>
          <a:solidFill>
            <a:srgbClr val="F2B134"/>
          </a:solidFill>
          <a:ln/>
        </p:spPr>
        <p:txBody>
          <a:bodyPr wrap="none" lIns="0" tIns="0" rIns="0" bIns="0" rtlCol="0" anchor="ctr">
            <a:normAutofit/>
          </a:bodyPr>
          <a:lstStyle/>
          <a:p>
            <a:pPr marL="0" indent="0" algn="ctr">
              <a:lnSpc>
                <a:spcPts val="1820"/>
              </a:lnSpc>
              <a:buNone/>
            </a:pPr>
            <a:r>
              <a:rPr lang="en-US" sz="1300" b="1" dirty="0">
                <a:solidFill>
                  <a:srgbClr val="0F1B2D"/>
                </a:solidFill>
                <a:latin typeface="DM Sans" pitchFamily="34" charset="0"/>
                <a:ea typeface="DM Sans" pitchFamily="34" charset="-122"/>
                <a:cs typeface="DM Sans" pitchFamily="34" charset="-120"/>
              </a:rPr>
              <a:t>Example</a:t>
            </a:r>
            <a:endParaRPr lang="en-US" sz="1300" dirty="0"/>
          </a:p>
        </p:txBody>
      </p:sp>
      <p:sp>
        <p:nvSpPr>
          <p:cNvPr id="15" name="Text 13"/>
          <p:cNvSpPr/>
          <p:nvPr/>
        </p:nvSpPr>
        <p:spPr>
          <a:xfrm>
            <a:off x="1948259" y="5111750"/>
            <a:ext cx="627278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F1B2D"/>
                </a:solidFill>
                <a:latin typeface="JetBrains Mono" pitchFamily="49" charset="0"/>
                <a:ea typeface="JetBrains Mono" pitchFamily="49" charset="-122"/>
                <a:cs typeface="JetBrains Mono" pitchFamily="49" charset="-120"/>
              </a:rPr>
              <a:t>knapsack([1, 3, 4, 5], [1, 4, 5, 7], 7) returns 9</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05 · ANALYSIS</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Time and space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01802"/>
          <a:ext cx="10556240" cy="2051050"/>
        </p:xfrm>
        <a:graphic>
          <a:graphicData uri="http://schemas.openxmlformats.org/drawingml/2006/table">
            <a:tbl>
              <a:tblPr/>
              <a:tblGrid>
                <a:gridCol w="3589122">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533498">
                  <a:extLst>
                    <a:ext uri="{9D8B030D-6E8A-4147-A177-3AD203B41FA5}">
                      <a16:colId xmlns:a16="http://schemas.microsoft.com/office/drawing/2014/main" val="20003"/>
                    </a:ext>
                  </a:extLst>
                </a:gridCol>
              </a:tblGrid>
              <a:tr h="410210">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Approach</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Time</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Space</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marL="0" indent="0">
                        <a:lnSpc>
                          <a:spcPts val="2100"/>
                        </a:lnSpc>
                        <a:buNone/>
                      </a:pPr>
                      <a:r>
                        <a:rPr lang="en-US" sz="1500" b="1" dirty="0">
                          <a:solidFill>
                            <a:srgbClr val="0F1B2D"/>
                          </a:solidFill>
                          <a:latin typeface="DM Sans" pitchFamily="34" charset="0"/>
                          <a:ea typeface="DM Sans" pitchFamily="34" charset="-122"/>
                          <a:cs typeface="DM Sans" pitchFamily="34" charset="-120"/>
                        </a:rPr>
                        <a:t>Always optimal</a:t>
                      </a:r>
                      <a:endParaRPr lang="en-US" sz="1500" dirty="0">
                        <a:latin typeface="DM Sans" charset="0"/>
                        <a:ea typeface="DM Sans" charset="0"/>
                        <a:cs typeface="DM Sans" charset="0"/>
                      </a:endParaRPr>
                    </a:p>
                  </a:txBody>
                  <a:tcPr marL="66675" marR="66675" marT="66675" marB="66675">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Brute force</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O(2^n)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Yes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Greedy by value per kg</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O(n log n)</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O(1)</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No</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DP with full table</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O(nW)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O(nW)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Yes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DP with one row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O(nW)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O(W)</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DM Sans" pitchFamily="34" charset="0"/>
                          <a:ea typeface="DM Sans" pitchFamily="34" charset="-122"/>
                          <a:cs typeface="DM Sans" pitchFamily="34" charset="-120"/>
                        </a:rPr>
                        <a:t>Yes</a:t>
                      </a:r>
                      <a:endParaRPr lang="en-US" sz="1500" dirty="0">
                        <a:latin typeface="DM Sans" charset="0"/>
                        <a:ea typeface="DM Sans" charset="0"/>
                        <a:cs typeface="DM Sans" charset="0"/>
                      </a:endParaRPr>
                    </a:p>
                  </a:txBody>
                  <a:tcPr marL="66675" marR="66675" marT="66675" marB="66675">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2800" y="4006850"/>
            <a:ext cx="5171440" cy="1247140"/>
          </a:xfrm>
          <a:prstGeom prst="roundRect">
            <a:avLst>
              <a:gd name="adj" fmla="val 10183"/>
            </a:avLst>
          </a:prstGeom>
          <a:solidFill>
            <a:srgbClr val="0F1B2D"/>
          </a:solidFill>
          <a:ln/>
        </p:spPr>
      </p:sp>
      <p:sp>
        <p:nvSpPr>
          <p:cNvPr id="6" name="Text 3"/>
          <p:cNvSpPr/>
          <p:nvPr/>
        </p:nvSpPr>
        <p:spPr>
          <a:xfrm>
            <a:off x="1016000" y="4210050"/>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2B134"/>
                </a:solidFill>
                <a:latin typeface="Rubik" pitchFamily="34" charset="0"/>
                <a:ea typeface="Rubik" pitchFamily="34" charset="-122"/>
                <a:cs typeface="Rubik" pitchFamily="34" charset="-120"/>
              </a:rPr>
              <a:t>Pseudo-polynomial</a:t>
            </a:r>
            <a:endParaRPr lang="en-US" sz="1700" dirty="0"/>
          </a:p>
        </p:txBody>
      </p:sp>
      <p:sp>
        <p:nvSpPr>
          <p:cNvPr id="7" name="Text 4"/>
          <p:cNvSpPr/>
          <p:nvPr/>
        </p:nvSpPr>
        <p:spPr>
          <a:xfrm>
            <a:off x="1016000" y="4532635"/>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6F3EC"/>
                </a:solidFill>
                <a:latin typeface="DM Sans" pitchFamily="34" charset="0"/>
                <a:ea typeface="DM Sans" pitchFamily="34" charset="-122"/>
                <a:cs typeface="DM Sans" pitchFamily="34" charset="-120"/>
              </a:rPr>
              <a:t>Time grows with the size of the number W, not only with how many digits W has.</a:t>
            </a:r>
            <a:endParaRPr lang="en-US" sz="1400" dirty="0"/>
          </a:p>
        </p:txBody>
      </p:sp>
      <p:sp>
        <p:nvSpPr>
          <p:cNvPr id="8" name="Shape 5"/>
          <p:cNvSpPr/>
          <p:nvPr/>
        </p:nvSpPr>
        <p:spPr>
          <a:xfrm>
            <a:off x="6193790" y="4013200"/>
            <a:ext cx="5179060" cy="1234440"/>
          </a:xfrm>
          <a:prstGeom prst="roundRect">
            <a:avLst>
              <a:gd name="adj" fmla="val 9774"/>
            </a:avLst>
          </a:prstGeom>
          <a:solidFill>
            <a:srgbClr val="FFFDF8"/>
          </a:solidFill>
          <a:ln w="12700">
            <a:solidFill>
              <a:srgbClr val="DDD6C8"/>
            </a:solidFill>
            <a:prstDash val="solid"/>
          </a:ln>
        </p:spPr>
      </p:sp>
      <p:sp>
        <p:nvSpPr>
          <p:cNvPr id="9" name="Text 6"/>
          <p:cNvSpPr/>
          <p:nvPr/>
        </p:nvSpPr>
        <p:spPr>
          <a:xfrm>
            <a:off x="6400800" y="4220208"/>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7A75"/>
                </a:solidFill>
                <a:latin typeface="Rubik" pitchFamily="34" charset="0"/>
                <a:ea typeface="Rubik" pitchFamily="34" charset="-122"/>
                <a:cs typeface="Rubik" pitchFamily="34" charset="-120"/>
              </a:rPr>
              <a:t>The one-row trick</a:t>
            </a:r>
            <a:endParaRPr lang="en-US" sz="1700" dirty="0"/>
          </a:p>
        </p:txBody>
      </p:sp>
      <p:sp>
        <p:nvSpPr>
          <p:cNvPr id="10" name="Text 7"/>
          <p:cNvSpPr/>
          <p:nvPr/>
        </p:nvSpPr>
        <p:spPr>
          <a:xfrm>
            <a:off x="6400800" y="4542792"/>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Row i needs only row i−1, so keep one array and loop c from W down to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B7A75"/>
                </a:solidFill>
                <a:latin typeface="DM Sans" pitchFamily="34" charset="0"/>
                <a:ea typeface="DM Sans" pitchFamily="34" charset="-122"/>
                <a:cs typeface="DM Sans" pitchFamily="34" charset="-120"/>
              </a:rPr>
              <a:t>05 · ANALYSIS</a:t>
            </a:r>
            <a:endParaRPr lang="en-US" sz="1300" dirty="0"/>
          </a:p>
        </p:txBody>
      </p:sp>
      <p:sp>
        <p:nvSpPr>
          <p:cNvPr id="3"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Rubik" pitchFamily="34" charset="0"/>
                <a:ea typeface="Rubik" pitchFamily="34" charset="-122"/>
                <a:cs typeface="Rubik" pitchFamily="34" charset="-120"/>
              </a:rPr>
              <a:t>Where it is used</a:t>
            </a:r>
            <a:endParaRPr lang="en-US" sz="3000" dirty="0"/>
          </a:p>
        </p:txBody>
      </p:sp>
      <p:sp>
        <p:nvSpPr>
          <p:cNvPr id="4" name="Shape 2"/>
          <p:cNvSpPr/>
          <p:nvPr/>
        </p:nvSpPr>
        <p:spPr>
          <a:xfrm>
            <a:off x="819150" y="1697992"/>
            <a:ext cx="3390900" cy="1511300"/>
          </a:xfrm>
          <a:prstGeom prst="roundRect">
            <a:avLst>
              <a:gd name="adj" fmla="val 7983"/>
            </a:avLst>
          </a:prstGeom>
          <a:solidFill>
            <a:srgbClr val="FFFDF8"/>
          </a:solidFill>
          <a:ln w="12700">
            <a:solidFill>
              <a:srgbClr val="DDD6C8"/>
            </a:solidFill>
            <a:prstDash val="solid"/>
          </a:ln>
        </p:spPr>
      </p:sp>
      <p:sp>
        <p:nvSpPr>
          <p:cNvPr id="5" name="Text 3"/>
          <p:cNvSpPr/>
          <p:nvPr/>
        </p:nvSpPr>
        <p:spPr>
          <a:xfrm>
            <a:off x="1026160" y="19050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Budgeting</a:t>
            </a:r>
            <a:endParaRPr lang="en-US" sz="1800" dirty="0"/>
          </a:p>
        </p:txBody>
      </p:sp>
      <p:sp>
        <p:nvSpPr>
          <p:cNvPr id="6" name="Text 4"/>
          <p:cNvSpPr/>
          <p:nvPr/>
        </p:nvSpPr>
        <p:spPr>
          <a:xfrm>
            <a:off x="1026160" y="2255527"/>
            <a:ext cx="306618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Choose the projects that give the most return within a fixed budget.</a:t>
            </a:r>
            <a:endParaRPr lang="en-US" sz="1400" dirty="0"/>
          </a:p>
        </p:txBody>
      </p:sp>
      <p:sp>
        <p:nvSpPr>
          <p:cNvPr id="7" name="Shape 5"/>
          <p:cNvSpPr/>
          <p:nvPr/>
        </p:nvSpPr>
        <p:spPr>
          <a:xfrm>
            <a:off x="4400550" y="1697992"/>
            <a:ext cx="3390900" cy="1511300"/>
          </a:xfrm>
          <a:prstGeom prst="roundRect">
            <a:avLst>
              <a:gd name="adj" fmla="val 7983"/>
            </a:avLst>
          </a:prstGeom>
          <a:solidFill>
            <a:srgbClr val="FFFDF8"/>
          </a:solidFill>
          <a:ln w="12700">
            <a:solidFill>
              <a:srgbClr val="DDD6C8"/>
            </a:solidFill>
            <a:prstDash val="solid"/>
          </a:ln>
        </p:spPr>
      </p:sp>
      <p:sp>
        <p:nvSpPr>
          <p:cNvPr id="8" name="Text 6"/>
          <p:cNvSpPr/>
          <p:nvPr/>
        </p:nvSpPr>
        <p:spPr>
          <a:xfrm>
            <a:off x="4607560" y="19050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Cargo loading</a:t>
            </a:r>
            <a:endParaRPr lang="en-US" sz="1800" dirty="0"/>
          </a:p>
        </p:txBody>
      </p:sp>
      <p:sp>
        <p:nvSpPr>
          <p:cNvPr id="9" name="Text 7"/>
          <p:cNvSpPr/>
          <p:nvPr/>
        </p:nvSpPr>
        <p:spPr>
          <a:xfrm>
            <a:off x="4607560" y="2255527"/>
            <a:ext cx="306618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Fill a truck or container with the most valuable load under a weight limit.</a:t>
            </a:r>
            <a:endParaRPr lang="en-US" sz="1400" dirty="0"/>
          </a:p>
        </p:txBody>
      </p:sp>
      <p:sp>
        <p:nvSpPr>
          <p:cNvPr id="10" name="Shape 8"/>
          <p:cNvSpPr/>
          <p:nvPr/>
        </p:nvSpPr>
        <p:spPr>
          <a:xfrm>
            <a:off x="7981950" y="1697992"/>
            <a:ext cx="3390900" cy="1511300"/>
          </a:xfrm>
          <a:prstGeom prst="roundRect">
            <a:avLst>
              <a:gd name="adj" fmla="val 7983"/>
            </a:avLst>
          </a:prstGeom>
          <a:solidFill>
            <a:srgbClr val="FFFDF8"/>
          </a:solidFill>
          <a:ln w="12700">
            <a:solidFill>
              <a:srgbClr val="DDD6C8"/>
            </a:solidFill>
            <a:prstDash val="solid"/>
          </a:ln>
        </p:spPr>
      </p:sp>
      <p:sp>
        <p:nvSpPr>
          <p:cNvPr id="11" name="Text 9"/>
          <p:cNvSpPr/>
          <p:nvPr/>
        </p:nvSpPr>
        <p:spPr>
          <a:xfrm>
            <a:off x="8188960" y="19050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Investing</a:t>
            </a:r>
            <a:endParaRPr lang="en-US" sz="1800" dirty="0"/>
          </a:p>
        </p:txBody>
      </p:sp>
      <p:sp>
        <p:nvSpPr>
          <p:cNvPr id="12" name="Text 10"/>
          <p:cNvSpPr/>
          <p:nvPr/>
        </p:nvSpPr>
        <p:spPr>
          <a:xfrm>
            <a:off x="8188960" y="2255527"/>
            <a:ext cx="306618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Pick the assets with the best expected return for a limited amount of capital.</a:t>
            </a:r>
            <a:endParaRPr lang="en-US" sz="1400" dirty="0"/>
          </a:p>
        </p:txBody>
      </p:sp>
      <p:sp>
        <p:nvSpPr>
          <p:cNvPr id="13" name="Shape 11"/>
          <p:cNvSpPr/>
          <p:nvPr/>
        </p:nvSpPr>
        <p:spPr>
          <a:xfrm>
            <a:off x="819150" y="3399792"/>
            <a:ext cx="3390900" cy="1262380"/>
          </a:xfrm>
          <a:prstGeom prst="roundRect">
            <a:avLst>
              <a:gd name="adj" fmla="val 9557"/>
            </a:avLst>
          </a:prstGeom>
          <a:solidFill>
            <a:srgbClr val="FFFDF8"/>
          </a:solidFill>
          <a:ln w="12700">
            <a:solidFill>
              <a:srgbClr val="DDD6C8"/>
            </a:solidFill>
            <a:prstDash val="solid"/>
          </a:ln>
        </p:spPr>
      </p:sp>
      <p:sp>
        <p:nvSpPr>
          <p:cNvPr id="14" name="Text 12"/>
          <p:cNvSpPr/>
          <p:nvPr/>
        </p:nvSpPr>
        <p:spPr>
          <a:xfrm>
            <a:off x="1026160" y="36068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Cloud computing</a:t>
            </a:r>
            <a:endParaRPr lang="en-US" sz="1800" dirty="0"/>
          </a:p>
        </p:txBody>
      </p:sp>
      <p:sp>
        <p:nvSpPr>
          <p:cNvPr id="15" name="Text 13"/>
          <p:cNvSpPr/>
          <p:nvPr/>
        </p:nvSpPr>
        <p:spPr>
          <a:xfrm>
            <a:off x="1026160" y="3957327"/>
            <a:ext cx="306618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Place jobs on a server with limited CPU and memory.</a:t>
            </a:r>
            <a:endParaRPr lang="en-US" sz="1400" dirty="0"/>
          </a:p>
        </p:txBody>
      </p:sp>
      <p:sp>
        <p:nvSpPr>
          <p:cNvPr id="16" name="Shape 14"/>
          <p:cNvSpPr/>
          <p:nvPr/>
        </p:nvSpPr>
        <p:spPr>
          <a:xfrm>
            <a:off x="4400550" y="3399792"/>
            <a:ext cx="3390900" cy="1262380"/>
          </a:xfrm>
          <a:prstGeom prst="roundRect">
            <a:avLst>
              <a:gd name="adj" fmla="val 9557"/>
            </a:avLst>
          </a:prstGeom>
          <a:solidFill>
            <a:srgbClr val="FFFDF8"/>
          </a:solidFill>
          <a:ln w="12700">
            <a:solidFill>
              <a:srgbClr val="DDD6C8"/>
            </a:solidFill>
            <a:prstDash val="solid"/>
          </a:ln>
        </p:spPr>
      </p:sp>
      <p:sp>
        <p:nvSpPr>
          <p:cNvPr id="17" name="Text 15"/>
          <p:cNvSpPr/>
          <p:nvPr/>
        </p:nvSpPr>
        <p:spPr>
          <a:xfrm>
            <a:off x="4607560" y="36068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Cutting stock</a:t>
            </a:r>
            <a:endParaRPr lang="en-US" sz="1800" dirty="0"/>
          </a:p>
        </p:txBody>
      </p:sp>
      <p:sp>
        <p:nvSpPr>
          <p:cNvPr id="18" name="Text 16"/>
          <p:cNvSpPr/>
          <p:nvPr/>
        </p:nvSpPr>
        <p:spPr>
          <a:xfrm>
            <a:off x="4607560" y="3957327"/>
            <a:ext cx="306618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Cut raw material so the pieces you keep are worth the most.</a:t>
            </a:r>
            <a:endParaRPr lang="en-US" sz="1400" dirty="0"/>
          </a:p>
        </p:txBody>
      </p:sp>
      <p:sp>
        <p:nvSpPr>
          <p:cNvPr id="19" name="Shape 17"/>
          <p:cNvSpPr/>
          <p:nvPr/>
        </p:nvSpPr>
        <p:spPr>
          <a:xfrm>
            <a:off x="7981950" y="3399792"/>
            <a:ext cx="3390900" cy="1262380"/>
          </a:xfrm>
          <a:prstGeom prst="roundRect">
            <a:avLst>
              <a:gd name="adj" fmla="val 9557"/>
            </a:avLst>
          </a:prstGeom>
          <a:solidFill>
            <a:srgbClr val="FFFDF8"/>
          </a:solidFill>
          <a:ln w="12700">
            <a:solidFill>
              <a:srgbClr val="DDD6C8"/>
            </a:solidFill>
            <a:prstDash val="solid"/>
          </a:ln>
        </p:spPr>
      </p:sp>
      <p:sp>
        <p:nvSpPr>
          <p:cNvPr id="20" name="Text 18"/>
          <p:cNvSpPr/>
          <p:nvPr/>
        </p:nvSpPr>
        <p:spPr>
          <a:xfrm>
            <a:off x="8188960" y="3606800"/>
            <a:ext cx="306618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Rubik" pitchFamily="34" charset="0"/>
                <a:ea typeface="Rubik" pitchFamily="34" charset="-122"/>
                <a:cs typeface="Rubik" pitchFamily="34" charset="-120"/>
              </a:rPr>
              <a:t>Time planning</a:t>
            </a:r>
            <a:endParaRPr lang="en-US" sz="1800" dirty="0"/>
          </a:p>
        </p:txBody>
      </p:sp>
      <p:sp>
        <p:nvSpPr>
          <p:cNvPr id="21" name="Text 19"/>
          <p:cNvSpPr/>
          <p:nvPr/>
        </p:nvSpPr>
        <p:spPr>
          <a:xfrm>
            <a:off x="8188960" y="3957327"/>
            <a:ext cx="306618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Choose the tasks that earn the most marks in the hours available.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8001000" y="1270000"/>
            <a:ext cx="3302000" cy="3302000"/>
          </a:xfrm>
          <a:prstGeom prst="rect">
            <a:avLst/>
          </a:prstGeom>
        </p:spPr>
      </p:pic>
      <p:pic>
        <p:nvPicPr>
          <p:cNvPr id="3" name="Image 1" descr="ellipse"/>
          <p:cNvPicPr>
            <a:picLocks noChangeAspect="1"/>
          </p:cNvPicPr>
          <p:nvPr/>
        </p:nvPicPr>
        <p:blipFill>
          <a:blip r:embed="rId4"/>
          <a:srcRect/>
          <a:stretch/>
        </p:blipFill>
        <p:spPr>
          <a:xfrm>
            <a:off x="9271000" y="3937000"/>
            <a:ext cx="2032000" cy="2032000"/>
          </a:xfrm>
          <a:prstGeom prst="rect">
            <a:avLst/>
          </a:prstGeom>
        </p:spPr>
      </p:pic>
      <p:sp>
        <p:nvSpPr>
          <p:cNvPr id="4" name="Text 0"/>
          <p:cNvSpPr/>
          <p:nvPr/>
        </p:nvSpPr>
        <p:spPr>
          <a:xfrm>
            <a:off x="812800" y="71120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4FD1C5"/>
                </a:solidFill>
                <a:latin typeface="DM Sans" pitchFamily="34" charset="0"/>
                <a:ea typeface="DM Sans" pitchFamily="34" charset="-122"/>
                <a:cs typeface="DM Sans" pitchFamily="34" charset="-120"/>
              </a:rPr>
              <a:t>06 · WRAP-UP</a:t>
            </a:r>
            <a:endParaRPr lang="en-US" sz="1300" dirty="0"/>
          </a:p>
        </p:txBody>
      </p:sp>
      <p:sp>
        <p:nvSpPr>
          <p:cNvPr id="5" name="Text 1"/>
          <p:cNvSpPr>
            <a:spLocks noGrp="1"/>
          </p:cNvSpPr>
          <p:nvPr>
            <p:ph type="title"/>
          </p:nvPr>
        </p:nvSpPr>
        <p:spPr>
          <a:xfrm>
            <a:off x="812800" y="1018542"/>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6F3EC"/>
                </a:solidFill>
                <a:latin typeface="Rubik" pitchFamily="34" charset="0"/>
                <a:ea typeface="Rubik" pitchFamily="34" charset="-122"/>
                <a:cs typeface="Rubik" pitchFamily="34" charset="-120"/>
              </a:rPr>
              <a:t>Key takeaways</a:t>
            </a:r>
            <a:endParaRPr lang="en-US" sz="3000" dirty="0"/>
          </a:p>
        </p:txBody>
      </p:sp>
      <p:sp>
        <p:nvSpPr>
          <p:cNvPr id="6" name="Text 2"/>
          <p:cNvSpPr/>
          <p:nvPr/>
        </p:nvSpPr>
        <p:spPr>
          <a:xfrm>
            <a:off x="812800" y="1691642"/>
            <a:ext cx="406400" cy="406400"/>
          </a:xfrm>
          <a:prstGeom prst="roundRect">
            <a:avLst>
              <a:gd name="adj" fmla="val 50000"/>
            </a:avLst>
          </a:prstGeom>
          <a:solidFill>
            <a:srgbClr val="F2B134"/>
          </a:solidFill>
          <a:ln/>
        </p:spPr>
        <p:txBody>
          <a:bodyPr wrap="square" lIns="0" tIns="0" rIns="0" bIns="0" rtlCol="0" anchor="ctr">
            <a:normAutofit/>
          </a:bodyPr>
          <a:lstStyle/>
          <a:p>
            <a:pPr marL="0" indent="0" algn="ctr">
              <a:lnSpc>
                <a:spcPts val="2240"/>
              </a:lnSpc>
              <a:buNone/>
            </a:pPr>
            <a:r>
              <a:rPr lang="en-US" sz="1600" b="1" dirty="0">
                <a:solidFill>
                  <a:srgbClr val="0F1B2D"/>
                </a:solidFill>
                <a:latin typeface="DM Sans" pitchFamily="34" charset="0"/>
                <a:ea typeface="DM Sans" pitchFamily="34" charset="-122"/>
                <a:cs typeface="DM Sans" pitchFamily="34" charset="-120"/>
              </a:rPr>
              <a:t>1</a:t>
            </a:r>
            <a:endParaRPr lang="en-US" sz="1600" dirty="0"/>
          </a:p>
        </p:txBody>
      </p:sp>
      <p:sp>
        <p:nvSpPr>
          <p:cNvPr id="7" name="Text 3"/>
          <p:cNvSpPr/>
          <p:nvPr/>
        </p:nvSpPr>
        <p:spPr>
          <a:xfrm>
            <a:off x="1371600" y="1754510"/>
            <a:ext cx="6357366" cy="30607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6F3EC"/>
                </a:solidFill>
                <a:latin typeface="DM Sans" pitchFamily="34" charset="0"/>
                <a:ea typeface="DM Sans" pitchFamily="34" charset="-122"/>
                <a:cs typeface="DM Sans" pitchFamily="34" charset="-120"/>
              </a:rPr>
              <a:t>Knapsack asks for the most value within a capacity limit.</a:t>
            </a:r>
            <a:endParaRPr lang="en-US" sz="1700" dirty="0"/>
          </a:p>
        </p:txBody>
      </p:sp>
      <p:sp>
        <p:nvSpPr>
          <p:cNvPr id="8" name="Text 4"/>
          <p:cNvSpPr/>
          <p:nvPr/>
        </p:nvSpPr>
        <p:spPr>
          <a:xfrm>
            <a:off x="812800" y="2275842"/>
            <a:ext cx="406400" cy="406400"/>
          </a:xfrm>
          <a:prstGeom prst="roundRect">
            <a:avLst>
              <a:gd name="adj" fmla="val 50000"/>
            </a:avLst>
          </a:prstGeom>
          <a:solidFill>
            <a:srgbClr val="F2B134"/>
          </a:solidFill>
          <a:ln/>
        </p:spPr>
        <p:txBody>
          <a:bodyPr wrap="square" lIns="0" tIns="0" rIns="0" bIns="0" rtlCol="0" anchor="ctr">
            <a:normAutofit/>
          </a:bodyPr>
          <a:lstStyle/>
          <a:p>
            <a:pPr marL="0" indent="0" algn="ctr">
              <a:lnSpc>
                <a:spcPts val="2240"/>
              </a:lnSpc>
              <a:buNone/>
            </a:pPr>
            <a:r>
              <a:rPr lang="en-US" sz="1600" b="1" dirty="0">
                <a:solidFill>
                  <a:srgbClr val="0F1B2D"/>
                </a:solidFill>
                <a:latin typeface="DM Sans" pitchFamily="34" charset="0"/>
                <a:ea typeface="DM Sans" pitchFamily="34" charset="-122"/>
                <a:cs typeface="DM Sans" pitchFamily="34" charset="-120"/>
              </a:rPr>
              <a:t>2</a:t>
            </a:r>
            <a:endParaRPr lang="en-US" sz="1600" dirty="0"/>
          </a:p>
        </p:txBody>
      </p:sp>
      <p:sp>
        <p:nvSpPr>
          <p:cNvPr id="9" name="Text 5"/>
          <p:cNvSpPr/>
          <p:nvPr/>
        </p:nvSpPr>
        <p:spPr>
          <a:xfrm>
            <a:off x="1371600" y="2338710"/>
            <a:ext cx="6357366" cy="30607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6F3EC"/>
                </a:solidFill>
                <a:latin typeface="DM Sans" pitchFamily="34" charset="0"/>
                <a:ea typeface="DM Sans" pitchFamily="34" charset="-122"/>
                <a:cs typeface="DM Sans" pitchFamily="34" charset="-120"/>
              </a:rPr>
              <a:t>Brute force checks all 2^n subsets, which is far too slow.</a:t>
            </a:r>
            <a:endParaRPr lang="en-US" sz="1700" dirty="0"/>
          </a:p>
        </p:txBody>
      </p:sp>
      <p:sp>
        <p:nvSpPr>
          <p:cNvPr id="10" name="Text 6"/>
          <p:cNvSpPr/>
          <p:nvPr/>
        </p:nvSpPr>
        <p:spPr>
          <a:xfrm>
            <a:off x="812800" y="2937508"/>
            <a:ext cx="406400" cy="406400"/>
          </a:xfrm>
          <a:prstGeom prst="roundRect">
            <a:avLst>
              <a:gd name="adj" fmla="val 50000"/>
            </a:avLst>
          </a:prstGeom>
          <a:solidFill>
            <a:srgbClr val="F2B134"/>
          </a:solidFill>
          <a:ln/>
        </p:spPr>
        <p:txBody>
          <a:bodyPr wrap="square" lIns="0" tIns="0" rIns="0" bIns="0" rtlCol="0" anchor="ctr">
            <a:normAutofit/>
          </a:bodyPr>
          <a:lstStyle/>
          <a:p>
            <a:pPr marL="0" indent="0" algn="ctr">
              <a:lnSpc>
                <a:spcPts val="2240"/>
              </a:lnSpc>
              <a:buNone/>
            </a:pPr>
            <a:r>
              <a:rPr lang="en-US" sz="1600" b="1" dirty="0">
                <a:solidFill>
                  <a:srgbClr val="0F1B2D"/>
                </a:solidFill>
                <a:latin typeface="DM Sans" pitchFamily="34" charset="0"/>
                <a:ea typeface="DM Sans" pitchFamily="34" charset="-122"/>
                <a:cs typeface="DM Sans" pitchFamily="34" charset="-120"/>
              </a:rPr>
              <a:t>3</a:t>
            </a:r>
            <a:endParaRPr lang="en-US" sz="1600" dirty="0"/>
          </a:p>
        </p:txBody>
      </p:sp>
      <p:sp>
        <p:nvSpPr>
          <p:cNvPr id="11" name="Text 7"/>
          <p:cNvSpPr/>
          <p:nvPr/>
        </p:nvSpPr>
        <p:spPr>
          <a:xfrm>
            <a:off x="1371600" y="2860042"/>
            <a:ext cx="6357366" cy="5867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6F3EC"/>
                </a:solidFill>
                <a:latin typeface="DM Sans" pitchFamily="34" charset="0"/>
                <a:ea typeface="DM Sans" pitchFamily="34" charset="-122"/>
                <a:cs typeface="DM Sans" pitchFamily="34" charset="-120"/>
              </a:rPr>
              <a:t>Greedy by value per kg is fast but can miss the best 0/1 answer.</a:t>
            </a:r>
            <a:endParaRPr lang="en-US" sz="1700" dirty="0"/>
          </a:p>
        </p:txBody>
      </p:sp>
      <p:sp>
        <p:nvSpPr>
          <p:cNvPr id="12" name="Text 8"/>
          <p:cNvSpPr/>
          <p:nvPr/>
        </p:nvSpPr>
        <p:spPr>
          <a:xfrm>
            <a:off x="812800" y="3599185"/>
            <a:ext cx="406400" cy="406400"/>
          </a:xfrm>
          <a:prstGeom prst="roundRect">
            <a:avLst>
              <a:gd name="adj" fmla="val 50000"/>
            </a:avLst>
          </a:prstGeom>
          <a:solidFill>
            <a:srgbClr val="F2B134"/>
          </a:solidFill>
          <a:ln/>
        </p:spPr>
        <p:txBody>
          <a:bodyPr wrap="square" lIns="0" tIns="0" rIns="0" bIns="0" rtlCol="0" anchor="ctr">
            <a:normAutofit/>
          </a:bodyPr>
          <a:lstStyle/>
          <a:p>
            <a:pPr marL="0" indent="0" algn="ctr">
              <a:lnSpc>
                <a:spcPts val="2240"/>
              </a:lnSpc>
              <a:buNone/>
            </a:pPr>
            <a:r>
              <a:rPr lang="en-US" sz="1600" b="1" dirty="0">
                <a:solidFill>
                  <a:srgbClr val="0F1B2D"/>
                </a:solidFill>
                <a:latin typeface="DM Sans" pitchFamily="34" charset="0"/>
                <a:ea typeface="DM Sans" pitchFamily="34" charset="-122"/>
                <a:cs typeface="DM Sans" pitchFamily="34" charset="-120"/>
              </a:rPr>
              <a:t>4</a:t>
            </a:r>
            <a:endParaRPr lang="en-US" sz="1600" dirty="0"/>
          </a:p>
        </p:txBody>
      </p:sp>
      <p:sp>
        <p:nvSpPr>
          <p:cNvPr id="13" name="Text 9"/>
          <p:cNvSpPr/>
          <p:nvPr/>
        </p:nvSpPr>
        <p:spPr>
          <a:xfrm>
            <a:off x="1371600" y="3662052"/>
            <a:ext cx="6357366" cy="30607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6F3EC"/>
                </a:solidFill>
                <a:latin typeface="DM Sans" pitchFamily="34" charset="0"/>
                <a:ea typeface="DM Sans" pitchFamily="34" charset="-122"/>
                <a:cs typeface="DM Sans" pitchFamily="34" charset="-120"/>
              </a:rPr>
              <a:t>DP fills a table with dp[i][c] = max(skip, take) in O(nW) time.</a:t>
            </a:r>
            <a:endParaRPr lang="en-US" sz="1700" dirty="0"/>
          </a:p>
        </p:txBody>
      </p:sp>
      <p:sp>
        <p:nvSpPr>
          <p:cNvPr id="14" name="Text 10"/>
          <p:cNvSpPr/>
          <p:nvPr/>
        </p:nvSpPr>
        <p:spPr>
          <a:xfrm>
            <a:off x="8001000" y="2667000"/>
            <a:ext cx="3531870"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F2B134"/>
                </a:solidFill>
                <a:latin typeface="Rubik" pitchFamily="34" charset="0"/>
                <a:ea typeface="Rubik" pitchFamily="34" charset="-122"/>
                <a:cs typeface="Rubik" pitchFamily="34" charset="-120"/>
              </a:rPr>
              <a:t>Questions?</a:t>
            </a:r>
            <a:endParaRPr lang="en-US" sz="4000" dirty="0"/>
          </a:p>
        </p:txBody>
      </p:sp>
      <p:sp>
        <p:nvSpPr>
          <p:cNvPr id="15" name="Text 11"/>
          <p:cNvSpPr/>
          <p:nvPr/>
        </p:nvSpPr>
        <p:spPr>
          <a:xfrm>
            <a:off x="8001000" y="3429000"/>
            <a:ext cx="353187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4D6"/>
                </a:solidFill>
                <a:latin typeface="DM Sans" pitchFamily="34" charset="0"/>
                <a:ea typeface="DM Sans" pitchFamily="34" charset="-122"/>
                <a:cs typeface="DM Sans" pitchFamily="34" charset="-120"/>
              </a:rPr>
              <a:t>Thank you for listening</a:t>
            </a:r>
            <a:endParaRPr lang="en-US" sz="1600" dirty="0"/>
          </a:p>
        </p:txBody>
      </p:sp>
    </p:spTree>
  </p:cSld>
  <p:clrMapOvr>
    <a:masterClrMapping/>
  </p:clrMapOvr>
</p:sld>
</file>

<file path=ppt/theme/theme1.xml><?xml version="1.0" encoding="utf-8"?>
<a:theme xmlns:a="http://schemas.openxmlformats.org/drawingml/2006/main" name="The Knapsack Problem">
  <a:themeElements>
    <a:clrScheme name="The Knapsack Problem">
      <a:dk1>
        <a:srgbClr val="0F1B2D"/>
      </a:dk1>
      <a:lt1>
        <a:srgbClr val="F6F3EC"/>
      </a:lt1>
      <a:dk2>
        <a:srgbClr val="49515D"/>
      </a:dk2>
      <a:lt2>
        <a:srgbClr val="DFDDD9"/>
      </a:lt2>
      <a:accent1>
        <a:srgbClr val="0B7A75"/>
      </a:accent1>
      <a:accent2>
        <a:srgbClr val="F2B134"/>
      </a:accent2>
      <a:accent3>
        <a:srgbClr val="4FD1C5"/>
      </a:accent3>
      <a:accent4>
        <a:srgbClr val="4A5568"/>
      </a:accent4>
      <a:accent5>
        <a:srgbClr val="E8E1D0"/>
      </a:accent5>
      <a:accent6>
        <a:srgbClr val="B8C4D6"/>
      </a:accent6>
      <a:hlink>
        <a:srgbClr val="0563C1"/>
      </a:hlink>
      <a:folHlink>
        <a:srgbClr val="954F72"/>
      </a:folHlink>
    </a:clrScheme>
    <a:fontScheme name="The Knapsack Problem">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3252</Words>
  <Application>Microsoft Office PowerPoint</Application>
  <PresentationFormat>Widescreen</PresentationFormat>
  <Paragraphs>459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DM Sans</vt:lpstr>
      <vt:lpstr>JetBrains Mono</vt:lpstr>
      <vt:lpstr>Rubik</vt:lpstr>
      <vt:lpstr>The Knapsack Problem</vt:lpstr>
      <vt:lpstr>The Knapsack Problem</vt:lpstr>
      <vt:lpstr>How this talk flows</vt:lpstr>
      <vt:lpstr>The hiker’s dilemma</vt:lpstr>
      <vt:lpstr>Formal definition</vt:lpstr>
      <vt:lpstr>Three kinds of knapsack</vt:lpstr>
      <vt:lpstr>Brute force: the decision tree</vt:lpstr>
      <vt:lpstr>Why brute force breaks</vt:lpstr>
      <vt:lpstr>Greedy by value per kg</vt:lpstr>
      <vt:lpstr>The DP idea</vt:lpstr>
      <vt:lpstr>The recurrence</vt:lpstr>
      <vt:lpstr>Algorithm flowchart</vt:lpstr>
      <vt:lpstr>The filled DP table</vt:lpstr>
      <vt:lpstr>One cell, step by step</vt:lpstr>
      <vt:lpstr>Tracing back the answer</vt:lpstr>
      <vt:lpstr>Python implementation</vt:lpstr>
      <vt:lpstr>Time and space</vt:lpstr>
      <vt:lpstr>Where it is used</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Knapsack Problem</dc:title>
  <dc:subject/>
  <dc:creator/>
  <cp:lastModifiedBy>saadnehal396@gmail.com</cp:lastModifiedBy>
  <cp:revision>2</cp:revision>
  <dcterms:created xsi:type="dcterms:W3CDTF">2026-10-19T09:33:13Z</dcterms:created>
  <dcterms:modified xsi:type="dcterms:W3CDTF">2026-10-19T09:34:53Z</dcterms:modified>
</cp:coreProperties>
</file>